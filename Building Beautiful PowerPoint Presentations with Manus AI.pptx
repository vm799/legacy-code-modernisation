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here to talk about how to stop building presentations one slide at a time and start designing them as a cohesive, beautiful whole. The goal isn't just to make slides look nice; it's to use design principles to make your message clearer, more memorable, and more professional. Think of this as a design guide for the modern presenter, moving beyond default templates and into intentional visual communication. We'll cover the foundational rules, the design philosophies that inform your choices, and the technical implementation details that ensure consistency. By the end of this session, you'll have a framework for creating presentations that truly stand out, whether you're presenting to a board or teaching a class. It’s about mastering the workflow so the design supports your content, not distracts from it. Let's start with the most important rule for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30-70 rule is the single most important principle for efficient presentation design. It dictates that you should spend 30% of your time on planning and 70% on execution. Most people flip this, tinkering with slides as they go, which leads to inconsistency and wasted time. The planning phase is where you make all the big decisions: choosing your design movement, establishing the colour palette, and mapping out the entire content flow. This upfront work prevents rework later. Once you move into the 70% execution phase, you are simply building, not deciding. You batch similar slides, copy-paste styles, and focus purely on content insertion and consistency checks. This disciplined approach ensures that your final presentation is cohesive and that you don't waste hours fiddling with individual slide layouts. Now that we understand the importance of planning, let's look at the design philosophies that inform your initial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design movement is part of that crucial 30% planning phase; it sets the entire tone and visual language for your presentation. We've identified four distinct movements that offer a strong starting point. For instance, Swiss International is perfect for technical or corporate audiences, relying on grid-based layouts and high contrast for clarity and professionalism. In contrast, Brutalist Minimalism uses stark aesthetics and unconventional typography to create a memorable, high-impact presentation, often suited for creative pitches. Bauhaus Modernism brings in geometric shapes and bold primary colours for a dynamic, functional feel, great for product launches. Finally, Neoclassical Elegance uses symmetry and refined spacing with serif fonts, ideal for formal or luxury brand presentations. Selecting one of these movements upfront gives you a consistent set of constraints to work within, ensuring visual harmony across all your slides. A key element of any design movement is how it handles text, which brings us to typography.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is the silent workhorse of your presentation; a clear hierarchy ensures your audience knows exactly where to look and what information is most important. This system defines six distinct text styles, from the large, impactful Slide Title down to the small, functional Labels. Notice the precise specifications for each level: we're defining not just the font size, but also the weight, line height, and even letter spacing. For example, the Slide Title uses a bold weight and a tight line height for maximum impact, while the Body Text uses a regular weight and a generous line height of 1.6 for readability. Establishing this system in your 30% planning phase means you never have to guess how to format text during the 70% execution phase. Consistency in these details is what separates a professional presentation from an amateur one. Just as important as text is the strategic use of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60-30-10 rule is a classic interior design principle that translates perfectly to presentation design, ensuring a balanced and professional colour palette. This rule dictates the proportional distribution of your three chosen colours: 60% for the dominant primary colour, 30% for the secondary colour, and 10% for the accent colour. The primary colour typically covers large areas like the background, setting the overall mood. The secondary colour is used for supporting elements, most often text and secondary graphics. Crucially, the accent colour is reserved only for emphasis—think key data points, calls to action, or important headings. Look at the example: the dark primary colour dominates, the white secondary colour provides excellent contrast for readability, and the bright cyan accent draws the eye precisely where you want it. This disciplined approach prevents your presentation from looking cluttered or overwhelming. Now that we've covered the foundational rules of planning, colour, and typography, let's look at how to structure the slides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colour, but how do we structure the content on the slide itself? Layout is the skeleton of your design, and you don't need to reinvent the wheel every time. We've identified five proven layout patterns that cover 90% of your presentation needs. The Asymmetric Split, for example, uses a 1fr 2fr grid to create immediate visual impact, perfect for a hero slide or a clear problem-solution pairing. Then you have the 2x2 Grid and the 3-Column Grid, which are excellent for presenting related concepts with equal weight, like four challenges or three assembly lines. Finally, the Vertical List and the Funnel handle sequential information and filtering processes respectively. By mastering these five patterns, you gain speed and consistency. You can quickly choose the right structure for your message, which is a huge time saver. Now that we know how to structure the content, let's look at the technical foundation that makes these layouts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these consistent layouts, we need a robust and scalable CSS architecture. Think of this as the foundation of your presentation's design system. We use a layered approach, ensuring that changes in one area don't unexpectedly break another. Layer 1, Reset and Base, is the absolute starting point, standardising things like margins and fonts across all slides. This prevents browser inconsistencies. As we move up, Layer 2 defines the main Slide Container, setting the stage for everything else. Layers 3 and 4 handle the background elements and content wrappers, managing things like z-index to ensure elements stack correctly. The most important layers for consistency are 5 and 6, Typography and Layout Components. By standardising your font sizes and your Grid and Flexbox systems here, you ensure every slide looks and feels like it belongs to the same presentation. This disciplined approach is what allows us to scale design quality. Now, let's look at how we can use these layers to create meaning without relying on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hierarchy is how you guide the viewer's eye, telling them what's most important first. But what if you can't use colour, perhaps due to brand constraints or accessibility needs? We rely on three powerful techniques: Size, Weight, and Opacity. Size Hierarchy is the most direct: the bigger the text, the more important it is. We use a defined scale, from Primary at 48 pixels down to Supporting at 12 pixels. Weight Hierarchy uses font boldness—700 for primary elements, 300 for light supporting text. Finally, Opacity Hierarchy is incredibly effective for creating subtle visual layers. Full opacity for the main message, and then dialling it down to 70% or 40% for secondary and tertiary information. When you combine all four techniques, as demonstrated in the sample, you create a clear, unambiguous flow for the viewer. This ensures your message is received in the intended order, regardless of the colour palette. A key part of achieving this precise control is mastering our layout tools, which brings us to Grid and Flexbox.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and Flexbox are the workhorses of modern web and presentation design. They are not interchangeable; they solve different problems. CSS Grid is for two-dimensional layouts, managing both rows and columns simultaneously. It's perfect for creating those structured layouts we discussed earlier, like the 2-Column, 3-Column, or the Asymmetric Grid. Notice how we use the fractional unit, 1fr, to ensure the columns adapt perfectly to the available space. Flexbox, on the other hand, is for one-dimensional layouts, managing items either in a row or a column. We use it extensively for things like the Vertical List, where we stack items and control the gap between them, or for Centred Flex, which is the easiest way to perfectly align content both horizontally and vertically. Understanding when to use Grid versus Flexbox is the key to efficient and responsive design. We use these tools to structure our content, but sometimes we need a little extra flair, which is where gradients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Gradients are a fantastic way to add depth and visual interest without resorting to complex imagery. They provide a modern, sophisticated feel when used correctly. We primarily use Linear Gradients, which transition smoothly between two or more colours along a straight line, whether that's horizontal, vertical, or diagonal. For more complex effects, we use Multi-stop Gradients, which allow us to define specific points where the colour changes, creating a richer blend. But the real power comes in their application. We can apply gradients directly to text using the background-clip property, making key titles pop. We also use Gradient Borders to create subtle accent lines and frames. The key takeaway here is that gradients are a non-image-based way to add texture and dimension. They are lightweight and highly scalable, perfect for adding that final polish. Next, we'll explore how to use pseudo-elements to further enhance our designs with subtle decorative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looked at using gradients for visual interest, but how do we add small, functional decorative elements without cluttering our HTML? Pseudo-elements are the answer. They allow us to inject purely decorative content using only CSS, keeping our markup clean and semantic. For instance, you can use the ::before pseudo-element to create a small accent line or a custom bullet point for a list. This is fantastic for maintaining a clean HTML structure. You're not adding extra div tags just for a tiny visual flourish. You can also use ::after to add large, faded section numbers in the background, which enhances the visual hierarchy without distracting the reader. The key benefit here is maintainability; all your decorative elements are controlled in one place, making it faster to build and easier to update. This approach gives us professional results with a much lighter code footprint. Now that we've covered the visual decoration, let's talk about the content itself and how we structure it for maximum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visual design is sorted, we must turn our attention to the content architecture, because even the most beautiful slide fails if the text is too dense. The goal here is scanability; viewers should be able to grasp the core message in about three seconds. We achieve this by strictly limiting the text density. Notice the guidelines: keep your slide titles to three to five words maximum, and body text should be concise, ideally fifteen to twenty-five words per paragraph. Every word must earn its place on the slide; if it doesn't add value, remove it. We also need to use visual weight and hierarchy effectively. Use size, weight, and spacing to guide the viewer's eye to the most important information first. Generous use of whitespace is crucial here; it makes the content feel less overwhelming and actually increases comprehension. Ultimately, less text equals greater impact and memorability, which is exactly what we want from our educational materials. But even with these guidelines, it's easy to fall into common traps, so let's look at how to avoid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established the principles of good design, but execution often reveals common pitfalls that undermine the final result. One of the most frequent issues is inconsistent spacing, where random pixel values create visual chaos. The solution is simple: adopt a consistent spacing scale, perhaps based on multiples of four or eight pixels, and stick to it religiously. Another common trap is poor contrast, which makes your content unreadable, especially for those with visual impairments. Always maintain WCAG AA contrast standards for legibility. Finally, watch out for unclear visual hierarchy. If all your text looks the same, the viewer doesn't know where to look first. Use size, weight, and spacing deliberately to create a clear path through the content. By addressing these pitfalls—inconsistent spacing, too many colours, poor contrast, and unclear hierarchy—you ensure the quality and professionalism of your final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6286500" y="-1428750"/>
            <a:ext cx="4286250" cy="4286250"/>
          </a:xfrm>
          <a:prstGeom prst="ellipse">
            <a:avLst/>
          </a:prstGeom>
          <a:solidFill>
            <a:srgbClr val="8B5CF6">
              <a:alpha val="10000"/>
            </a:srgbClr>
          </a:solidFill>
          <a:ln/>
        </p:spPr>
      </p:sp>
      <p:sp>
        <p:nvSpPr>
          <p:cNvPr id="5" name="Text 1"/>
          <p:cNvSpPr/>
          <p:nvPr/>
        </p:nvSpPr>
        <p:spPr>
          <a:xfrm>
            <a:off x="571500" y="1130722"/>
            <a:ext cx="5000625"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Design Guide</a:t>
            </a:r>
            <a:endParaRPr lang="en-US" sz="584" dirty="0"/>
          </a:p>
        </p:txBody>
      </p:sp>
      <p:sp>
        <p:nvSpPr>
          <p:cNvPr id="6" name="Text 2"/>
          <p:cNvSpPr/>
          <p:nvPr/>
        </p:nvSpPr>
        <p:spPr>
          <a:xfrm>
            <a:off x="571500" y="1418258"/>
            <a:ext cx="5000625" cy="2194471"/>
          </a:xfrm>
          <a:prstGeom prst="rect">
            <a:avLst/>
          </a:prstGeom>
          <a:noFill/>
          <a:ln/>
        </p:spPr>
        <p:txBody>
          <a:bodyPr wrap="square" lIns="0" tIns="0" rIns="0" bIns="0" rtlCol="0" anchor="t">
            <a:spAutoFit/>
          </a:bodyPr>
          <a:lstStyle/>
          <a:p>
            <a:pPr algn="l" indent="0" marL="0">
              <a:lnSpc>
                <a:spcPts val="4300"/>
              </a:lnSpc>
              <a:buNone/>
            </a:pPr>
            <a:r>
              <a:rPr lang="en-US" sz="3294" b="1" dirty="0">
                <a:solidFill>
                  <a:srgbClr val="FFFFFF"/>
                </a:solidFill>
              </a:rPr>
              <a:t>Building Beautiful PowerPoint Presentations with Manus AI</a:t>
            </a:r>
            <a:endParaRPr lang="en-US" sz="3294" dirty="0"/>
          </a:p>
        </p:txBody>
      </p:sp>
      <p:sp>
        <p:nvSpPr>
          <p:cNvPr id="7" name="Text 3"/>
          <p:cNvSpPr/>
          <p:nvPr/>
        </p:nvSpPr>
        <p:spPr>
          <a:xfrm>
            <a:off x="571500" y="3784178"/>
            <a:ext cx="5000625"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E0E0E0"/>
                </a:solidFill>
              </a:rPr>
              <a:t>A visual walkthrough of design principles, technical implementation, and workflow mastery</a:t>
            </a:r>
            <a:endParaRPr lang="en-US" sz="1050" dirty="0"/>
          </a:p>
        </p:txBody>
      </p:sp>
      <p:sp>
        <p:nvSpPr>
          <p:cNvPr id="8" name="Shape 4"/>
          <p:cNvSpPr/>
          <p:nvPr/>
        </p:nvSpPr>
        <p:spPr>
          <a:xfrm>
            <a:off x="-1071562" y="3357563"/>
            <a:ext cx="2857500" cy="2857500"/>
          </a:xfrm>
          <a:prstGeom prst="ellipse">
            <a:avLst/>
          </a:prstGeom>
          <a:solidFill>
            <a:srgbClr val="8B5CF6">
              <a:alpha val="8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Foundational Principle</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30-70 Planning vs Execution Rule</a:t>
            </a:r>
            <a:endParaRPr lang="en-US" sz="2436" dirty="0"/>
          </a:p>
        </p:txBody>
      </p:sp>
      <p:sp>
        <p:nvSpPr>
          <p:cNvPr id="6" name="Text 2"/>
          <p:cNvSpPr/>
          <p:nvPr/>
        </p:nvSpPr>
        <p:spPr>
          <a:xfrm>
            <a:off x="571500" y="1413374"/>
            <a:ext cx="3786188"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22D3EE"/>
                </a:solidFill>
              </a:rPr>
              <a:t>30%</a:t>
            </a:r>
            <a:endParaRPr lang="en-US" sz="1602" dirty="0"/>
          </a:p>
        </p:txBody>
      </p:sp>
      <p:sp>
        <p:nvSpPr>
          <p:cNvPr id="7" name="Text 3"/>
          <p:cNvSpPr/>
          <p:nvPr/>
        </p:nvSpPr>
        <p:spPr>
          <a:xfrm>
            <a:off x="571500" y="1783063"/>
            <a:ext cx="3786188"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E0E0E0"/>
                </a:solidFill>
              </a:rPr>
              <a:t>Planning</a:t>
            </a:r>
            <a:endParaRPr lang="en-US" sz="727" dirty="0"/>
          </a:p>
        </p:txBody>
      </p:sp>
      <p:sp>
        <p:nvSpPr>
          <p:cNvPr id="8" name="Text 4"/>
          <p:cNvSpPr/>
          <p:nvPr/>
        </p:nvSpPr>
        <p:spPr>
          <a:xfrm>
            <a:off x="992981" y="2261695"/>
            <a:ext cx="3364706"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Design Philosophy</a:t>
            </a:r>
            <a:endParaRPr lang="en-US" sz="784" dirty="0"/>
          </a:p>
        </p:txBody>
      </p:sp>
      <p:sp>
        <p:nvSpPr>
          <p:cNvPr id="9" name="Text 5"/>
          <p:cNvSpPr/>
          <p:nvPr/>
        </p:nvSpPr>
        <p:spPr>
          <a:xfrm>
            <a:off x="992981" y="2445646"/>
            <a:ext cx="336470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Choose movement, establish palette, select typography</a:t>
            </a:r>
            <a:endParaRPr lang="en-US" sz="727" dirty="0"/>
          </a:p>
        </p:txBody>
      </p:sp>
      <p:sp>
        <p:nvSpPr>
          <p:cNvPr id="10" name="Text 6"/>
          <p:cNvSpPr/>
          <p:nvPr/>
        </p:nvSpPr>
        <p:spPr>
          <a:xfrm>
            <a:off x="992981" y="2767115"/>
            <a:ext cx="3364706"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Content Outline</a:t>
            </a:r>
            <a:endParaRPr lang="en-US" sz="784" dirty="0"/>
          </a:p>
        </p:txBody>
      </p:sp>
      <p:sp>
        <p:nvSpPr>
          <p:cNvPr id="11" name="Text 7"/>
          <p:cNvSpPr/>
          <p:nvPr/>
        </p:nvSpPr>
        <p:spPr>
          <a:xfrm>
            <a:off x="992981" y="2951066"/>
            <a:ext cx="336470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Map all slides, plan layout variety, identify visuals</a:t>
            </a:r>
            <a:endParaRPr lang="en-US" sz="727" dirty="0"/>
          </a:p>
        </p:txBody>
      </p:sp>
      <p:sp>
        <p:nvSpPr>
          <p:cNvPr id="12" name="Text 8"/>
          <p:cNvSpPr/>
          <p:nvPr/>
        </p:nvSpPr>
        <p:spPr>
          <a:xfrm>
            <a:off x="992981" y="3272535"/>
            <a:ext cx="3364706"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Visual Variety</a:t>
            </a:r>
            <a:endParaRPr lang="en-US" sz="784" dirty="0"/>
          </a:p>
        </p:txBody>
      </p:sp>
      <p:sp>
        <p:nvSpPr>
          <p:cNvPr id="13" name="Text 9"/>
          <p:cNvSpPr/>
          <p:nvPr/>
        </p:nvSpPr>
        <p:spPr>
          <a:xfrm>
            <a:off x="992981" y="3456487"/>
            <a:ext cx="336470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Ensure no two consecutive slides use identical layouts</a:t>
            </a:r>
            <a:endParaRPr lang="en-US" sz="727" dirty="0"/>
          </a:p>
        </p:txBody>
      </p:sp>
      <p:sp>
        <p:nvSpPr>
          <p:cNvPr id="14" name="Text 10"/>
          <p:cNvSpPr/>
          <p:nvPr/>
        </p:nvSpPr>
        <p:spPr>
          <a:xfrm>
            <a:off x="992981" y="3777955"/>
            <a:ext cx="3364706"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Constraints</a:t>
            </a:r>
            <a:endParaRPr lang="en-US" sz="784" dirty="0"/>
          </a:p>
        </p:txBody>
      </p:sp>
      <p:sp>
        <p:nvSpPr>
          <p:cNvPr id="15" name="Text 11"/>
          <p:cNvSpPr/>
          <p:nvPr/>
        </p:nvSpPr>
        <p:spPr>
          <a:xfrm>
            <a:off x="992981" y="3961907"/>
            <a:ext cx="336470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Define what to include and exclude upfront</a:t>
            </a:r>
            <a:endParaRPr lang="en-US" sz="727" dirty="0"/>
          </a:p>
        </p:txBody>
      </p:sp>
      <p:sp>
        <p:nvSpPr>
          <p:cNvPr id="16" name="Text 12"/>
          <p:cNvSpPr/>
          <p:nvPr/>
        </p:nvSpPr>
        <p:spPr>
          <a:xfrm>
            <a:off x="4786313" y="1413374"/>
            <a:ext cx="3786188"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22D3EE"/>
                </a:solidFill>
              </a:rPr>
              <a:t>70%</a:t>
            </a:r>
            <a:endParaRPr lang="en-US" sz="1602" dirty="0"/>
          </a:p>
        </p:txBody>
      </p:sp>
      <p:sp>
        <p:nvSpPr>
          <p:cNvPr id="17" name="Text 13"/>
          <p:cNvSpPr/>
          <p:nvPr/>
        </p:nvSpPr>
        <p:spPr>
          <a:xfrm>
            <a:off x="4786313" y="1783063"/>
            <a:ext cx="3786188"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E0E0E0"/>
                </a:solidFill>
              </a:rPr>
              <a:t>Execution</a:t>
            </a:r>
            <a:endParaRPr lang="en-US" sz="727" dirty="0"/>
          </a:p>
        </p:txBody>
      </p:sp>
      <p:sp>
        <p:nvSpPr>
          <p:cNvPr id="18" name="Text 14"/>
          <p:cNvSpPr/>
          <p:nvPr/>
        </p:nvSpPr>
        <p:spPr>
          <a:xfrm>
            <a:off x="5207794" y="2261695"/>
            <a:ext cx="3364706"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Building</a:t>
            </a:r>
            <a:endParaRPr lang="en-US" sz="784" dirty="0"/>
          </a:p>
        </p:txBody>
      </p:sp>
      <p:sp>
        <p:nvSpPr>
          <p:cNvPr id="19" name="Text 15"/>
          <p:cNvSpPr/>
          <p:nvPr/>
        </p:nvSpPr>
        <p:spPr>
          <a:xfrm>
            <a:off x="5207794" y="2445646"/>
            <a:ext cx="336470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Batch similar slides, copy-paste CSS, only change content</a:t>
            </a:r>
            <a:endParaRPr lang="en-US" sz="727" dirty="0"/>
          </a:p>
        </p:txBody>
      </p:sp>
      <p:sp>
        <p:nvSpPr>
          <p:cNvPr id="20" name="Text 16"/>
          <p:cNvSpPr/>
          <p:nvPr/>
        </p:nvSpPr>
        <p:spPr>
          <a:xfrm>
            <a:off x="5207794" y="2767115"/>
            <a:ext cx="3364706"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Consistency</a:t>
            </a:r>
            <a:endParaRPr lang="en-US" sz="784" dirty="0"/>
          </a:p>
        </p:txBody>
      </p:sp>
      <p:sp>
        <p:nvSpPr>
          <p:cNvPr id="21" name="Text 17"/>
          <p:cNvSpPr/>
          <p:nvPr/>
        </p:nvSpPr>
        <p:spPr>
          <a:xfrm>
            <a:off x="5207794" y="2951066"/>
            <a:ext cx="336470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Maintain styles, use reference slide as template</a:t>
            </a:r>
            <a:endParaRPr lang="en-US" sz="727" dirty="0"/>
          </a:p>
        </p:txBody>
      </p:sp>
      <p:sp>
        <p:nvSpPr>
          <p:cNvPr id="22" name="Text 18"/>
          <p:cNvSpPr/>
          <p:nvPr/>
        </p:nvSpPr>
        <p:spPr>
          <a:xfrm>
            <a:off x="5207794" y="3272535"/>
            <a:ext cx="3364706"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Optimisation</a:t>
            </a:r>
            <a:endParaRPr lang="en-US" sz="784" dirty="0"/>
          </a:p>
        </p:txBody>
      </p:sp>
      <p:sp>
        <p:nvSpPr>
          <p:cNvPr id="23" name="Text 19"/>
          <p:cNvSpPr/>
          <p:nvPr/>
        </p:nvSpPr>
        <p:spPr>
          <a:xfrm>
            <a:off x="5207794" y="3456487"/>
            <a:ext cx="336470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Check contrast, verify alignment, test typography</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Design Philosophy</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Four Design Movements for Presentations</a:t>
            </a:r>
            <a:endParaRPr lang="en-US" sz="2436" dirty="0"/>
          </a:p>
        </p:txBody>
      </p:sp>
      <p:sp>
        <p:nvSpPr>
          <p:cNvPr id="6" name="Text 2"/>
          <p:cNvSpPr/>
          <p:nvPr/>
        </p:nvSpPr>
        <p:spPr>
          <a:xfrm>
            <a:off x="771525" y="1356224"/>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Swiss International</a:t>
            </a:r>
            <a:endParaRPr lang="en-US" sz="1090" dirty="0"/>
          </a:p>
        </p:txBody>
      </p:sp>
      <p:sp>
        <p:nvSpPr>
          <p:cNvPr id="7" name="Text 3"/>
          <p:cNvSpPr/>
          <p:nvPr/>
        </p:nvSpPr>
        <p:spPr>
          <a:xfrm>
            <a:off x="771525" y="1684837"/>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Grid-based layout</a:t>
            </a:r>
            <a:endParaRPr lang="en-US" sz="727" dirty="0"/>
          </a:p>
        </p:txBody>
      </p:sp>
      <p:sp>
        <p:nvSpPr>
          <p:cNvPr id="8" name="Text 4"/>
          <p:cNvSpPr/>
          <p:nvPr/>
        </p:nvSpPr>
        <p:spPr>
          <a:xfrm>
            <a:off x="771525" y="1901996"/>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Minimal ornamentation</a:t>
            </a:r>
            <a:endParaRPr lang="en-US" sz="727" dirty="0"/>
          </a:p>
        </p:txBody>
      </p:sp>
      <p:sp>
        <p:nvSpPr>
          <p:cNvPr id="9" name="Text 5"/>
          <p:cNvSpPr/>
          <p:nvPr/>
        </p:nvSpPr>
        <p:spPr>
          <a:xfrm>
            <a:off x="771525" y="2119154"/>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Cyan accents</a:t>
            </a:r>
            <a:endParaRPr lang="en-US" sz="727" dirty="0"/>
          </a:p>
        </p:txBody>
      </p:sp>
      <p:sp>
        <p:nvSpPr>
          <p:cNvPr id="10" name="Text 6"/>
          <p:cNvSpPr/>
          <p:nvPr/>
        </p:nvSpPr>
        <p:spPr>
          <a:xfrm>
            <a:off x="771525" y="2336313"/>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High contrast</a:t>
            </a:r>
            <a:endParaRPr lang="en-US" sz="727" dirty="0"/>
          </a:p>
        </p:txBody>
      </p:sp>
      <p:sp>
        <p:nvSpPr>
          <p:cNvPr id="11" name="Text 7"/>
          <p:cNvSpPr/>
          <p:nvPr/>
        </p:nvSpPr>
        <p:spPr>
          <a:xfrm>
            <a:off x="771525" y="2826581"/>
            <a:ext cx="3686175"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Best Use</a:t>
            </a:r>
            <a:endParaRPr lang="en-US" sz="584" dirty="0"/>
          </a:p>
        </p:txBody>
      </p:sp>
      <p:sp>
        <p:nvSpPr>
          <p:cNvPr id="12" name="Text 8"/>
          <p:cNvSpPr/>
          <p:nvPr/>
        </p:nvSpPr>
        <p:spPr>
          <a:xfrm>
            <a:off x="771525" y="2999817"/>
            <a:ext cx="368617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E0E0E0"/>
                </a:solidFill>
              </a:rPr>
              <a:t>Technical presentations, CTOs, enterprise</a:t>
            </a:r>
            <a:endParaRPr lang="en-US" sz="727" dirty="0"/>
          </a:p>
        </p:txBody>
      </p:sp>
      <p:sp>
        <p:nvSpPr>
          <p:cNvPr id="13" name="Text 9"/>
          <p:cNvSpPr/>
          <p:nvPr/>
        </p:nvSpPr>
        <p:spPr>
          <a:xfrm>
            <a:off x="4886325" y="1356224"/>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Brutalist Minimalism</a:t>
            </a:r>
            <a:endParaRPr lang="en-US" sz="1090" dirty="0"/>
          </a:p>
        </p:txBody>
      </p:sp>
      <p:sp>
        <p:nvSpPr>
          <p:cNvPr id="14" name="Text 10"/>
          <p:cNvSpPr/>
          <p:nvPr/>
        </p:nvSpPr>
        <p:spPr>
          <a:xfrm>
            <a:off x="4886325" y="1684837"/>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Stark, raw aesthetic</a:t>
            </a:r>
            <a:endParaRPr lang="en-US" sz="727" dirty="0"/>
          </a:p>
        </p:txBody>
      </p:sp>
      <p:sp>
        <p:nvSpPr>
          <p:cNvPr id="15" name="Text 11"/>
          <p:cNvSpPr/>
          <p:nvPr/>
        </p:nvSpPr>
        <p:spPr>
          <a:xfrm>
            <a:off x="4886325" y="1901996"/>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Extreme contrast</a:t>
            </a:r>
            <a:endParaRPr lang="en-US" sz="727" dirty="0"/>
          </a:p>
        </p:txBody>
      </p:sp>
      <p:sp>
        <p:nvSpPr>
          <p:cNvPr id="16" name="Text 12"/>
          <p:cNvSpPr/>
          <p:nvPr/>
        </p:nvSpPr>
        <p:spPr>
          <a:xfrm>
            <a:off x="4886325" y="2119154"/>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Unconventional typography</a:t>
            </a:r>
            <a:endParaRPr lang="en-US" sz="727" dirty="0"/>
          </a:p>
        </p:txBody>
      </p:sp>
      <p:sp>
        <p:nvSpPr>
          <p:cNvPr id="17" name="Text 13"/>
          <p:cNvSpPr/>
          <p:nvPr/>
        </p:nvSpPr>
        <p:spPr>
          <a:xfrm>
            <a:off x="4886325" y="2336313"/>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Memorable impact</a:t>
            </a:r>
            <a:endParaRPr lang="en-US" sz="727" dirty="0"/>
          </a:p>
        </p:txBody>
      </p:sp>
      <p:sp>
        <p:nvSpPr>
          <p:cNvPr id="18" name="Text 14"/>
          <p:cNvSpPr/>
          <p:nvPr/>
        </p:nvSpPr>
        <p:spPr>
          <a:xfrm>
            <a:off x="4886325" y="2826581"/>
            <a:ext cx="3686175"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Best Use</a:t>
            </a:r>
            <a:endParaRPr lang="en-US" sz="584" dirty="0"/>
          </a:p>
        </p:txBody>
      </p:sp>
      <p:sp>
        <p:nvSpPr>
          <p:cNvPr id="19" name="Text 15"/>
          <p:cNvSpPr/>
          <p:nvPr/>
        </p:nvSpPr>
        <p:spPr>
          <a:xfrm>
            <a:off x="4886325" y="2999817"/>
            <a:ext cx="368617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E0E0E0"/>
                </a:solidFill>
              </a:rPr>
              <a:t>Conceptual presentations, creative pitches</a:t>
            </a:r>
            <a:endParaRPr lang="en-US" sz="727" dirty="0"/>
          </a:p>
        </p:txBody>
      </p:sp>
      <p:sp>
        <p:nvSpPr>
          <p:cNvPr id="20" name="Text 16"/>
          <p:cNvSpPr/>
          <p:nvPr/>
        </p:nvSpPr>
        <p:spPr>
          <a:xfrm>
            <a:off x="771525" y="3364148"/>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Bauhaus Modernism</a:t>
            </a:r>
            <a:endParaRPr lang="en-US" sz="1090" dirty="0"/>
          </a:p>
        </p:txBody>
      </p:sp>
      <p:sp>
        <p:nvSpPr>
          <p:cNvPr id="21" name="Text 17"/>
          <p:cNvSpPr/>
          <p:nvPr/>
        </p:nvSpPr>
        <p:spPr>
          <a:xfrm>
            <a:off x="771525" y="3692761"/>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Geometric shapes</a:t>
            </a:r>
            <a:endParaRPr lang="en-US" sz="727" dirty="0"/>
          </a:p>
        </p:txBody>
      </p:sp>
      <p:sp>
        <p:nvSpPr>
          <p:cNvPr id="22" name="Text 18"/>
          <p:cNvSpPr/>
          <p:nvPr/>
        </p:nvSpPr>
        <p:spPr>
          <a:xfrm>
            <a:off x="771525" y="3909919"/>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Bold primary colours</a:t>
            </a:r>
            <a:endParaRPr lang="en-US" sz="727" dirty="0"/>
          </a:p>
        </p:txBody>
      </p:sp>
      <p:sp>
        <p:nvSpPr>
          <p:cNvPr id="23" name="Text 19"/>
          <p:cNvSpPr/>
          <p:nvPr/>
        </p:nvSpPr>
        <p:spPr>
          <a:xfrm>
            <a:off x="771525" y="4127078"/>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Functional beauty</a:t>
            </a:r>
            <a:endParaRPr lang="en-US" sz="727" dirty="0"/>
          </a:p>
        </p:txBody>
      </p:sp>
      <p:sp>
        <p:nvSpPr>
          <p:cNvPr id="24" name="Text 20"/>
          <p:cNvSpPr/>
          <p:nvPr/>
        </p:nvSpPr>
        <p:spPr>
          <a:xfrm>
            <a:off x="771525" y="4344237"/>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Dynamic composition</a:t>
            </a:r>
            <a:endParaRPr lang="en-US" sz="727" dirty="0"/>
          </a:p>
        </p:txBody>
      </p:sp>
      <p:sp>
        <p:nvSpPr>
          <p:cNvPr id="25" name="Text 21"/>
          <p:cNvSpPr/>
          <p:nvPr/>
        </p:nvSpPr>
        <p:spPr>
          <a:xfrm>
            <a:off x="771525" y="4834533"/>
            <a:ext cx="3686175"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Best Use</a:t>
            </a:r>
            <a:endParaRPr lang="en-US" sz="584" dirty="0"/>
          </a:p>
        </p:txBody>
      </p:sp>
      <p:sp>
        <p:nvSpPr>
          <p:cNvPr id="26" name="Text 22"/>
          <p:cNvSpPr/>
          <p:nvPr/>
        </p:nvSpPr>
        <p:spPr>
          <a:xfrm>
            <a:off x="771525" y="5007769"/>
            <a:ext cx="368617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E0E0E0"/>
                </a:solidFill>
              </a:rPr>
              <a:t>Creative presentations, product launches</a:t>
            </a:r>
            <a:endParaRPr lang="en-US" sz="727" dirty="0"/>
          </a:p>
        </p:txBody>
      </p:sp>
      <p:sp>
        <p:nvSpPr>
          <p:cNvPr id="27" name="Text 23"/>
          <p:cNvSpPr/>
          <p:nvPr/>
        </p:nvSpPr>
        <p:spPr>
          <a:xfrm>
            <a:off x="4886325" y="3364148"/>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Neoclassical Elegance</a:t>
            </a:r>
            <a:endParaRPr lang="en-US" sz="1090" dirty="0"/>
          </a:p>
        </p:txBody>
      </p:sp>
      <p:sp>
        <p:nvSpPr>
          <p:cNvPr id="28" name="Text 24"/>
          <p:cNvSpPr/>
          <p:nvPr/>
        </p:nvSpPr>
        <p:spPr>
          <a:xfrm>
            <a:off x="4886325" y="3692761"/>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Symmetrical layout</a:t>
            </a:r>
            <a:endParaRPr lang="en-US" sz="727" dirty="0"/>
          </a:p>
        </p:txBody>
      </p:sp>
      <p:sp>
        <p:nvSpPr>
          <p:cNvPr id="29" name="Text 25"/>
          <p:cNvSpPr/>
          <p:nvPr/>
        </p:nvSpPr>
        <p:spPr>
          <a:xfrm>
            <a:off x="4886325" y="3909919"/>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Serif typography</a:t>
            </a:r>
            <a:endParaRPr lang="en-US" sz="727" dirty="0"/>
          </a:p>
        </p:txBody>
      </p:sp>
      <p:sp>
        <p:nvSpPr>
          <p:cNvPr id="30" name="Text 26"/>
          <p:cNvSpPr/>
          <p:nvPr/>
        </p:nvSpPr>
        <p:spPr>
          <a:xfrm>
            <a:off x="4886325" y="4127078"/>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Gold accents</a:t>
            </a:r>
            <a:endParaRPr lang="en-US" sz="727" dirty="0"/>
          </a:p>
        </p:txBody>
      </p:sp>
      <p:sp>
        <p:nvSpPr>
          <p:cNvPr id="31" name="Text 27"/>
          <p:cNvSpPr/>
          <p:nvPr/>
        </p:nvSpPr>
        <p:spPr>
          <a:xfrm>
            <a:off x="4886325" y="4344237"/>
            <a:ext cx="3686175"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Refined spacing</a:t>
            </a:r>
            <a:endParaRPr lang="en-US" sz="727" dirty="0"/>
          </a:p>
        </p:txBody>
      </p:sp>
      <p:sp>
        <p:nvSpPr>
          <p:cNvPr id="32" name="Text 28"/>
          <p:cNvSpPr/>
          <p:nvPr/>
        </p:nvSpPr>
        <p:spPr>
          <a:xfrm>
            <a:off x="4886325" y="4834533"/>
            <a:ext cx="3686175"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Best Use</a:t>
            </a:r>
            <a:endParaRPr lang="en-US" sz="584" dirty="0"/>
          </a:p>
        </p:txBody>
      </p:sp>
      <p:sp>
        <p:nvSpPr>
          <p:cNvPr id="33" name="Text 29"/>
          <p:cNvSpPr/>
          <p:nvPr/>
        </p:nvSpPr>
        <p:spPr>
          <a:xfrm>
            <a:off x="4886325" y="5007769"/>
            <a:ext cx="368617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E0E0E0"/>
                </a:solidFill>
              </a:rPr>
              <a:t>Formal presentations, luxury brands</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Visual Hierarchy</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Typography Hierarchy System</a:t>
            </a:r>
            <a:endParaRPr lang="en-US" sz="2436" dirty="0"/>
          </a:p>
        </p:txBody>
      </p:sp>
      <p:sp>
        <p:nvSpPr>
          <p:cNvPr id="6" name="Text 2"/>
          <p:cNvSpPr/>
          <p:nvPr/>
        </p:nvSpPr>
        <p:spPr>
          <a:xfrm>
            <a:off x="707231" y="1356224"/>
            <a:ext cx="1743075"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Slide Title</a:t>
            </a:r>
            <a:endParaRPr lang="en-US" sz="2436" dirty="0"/>
          </a:p>
        </p:txBody>
      </p:sp>
      <p:sp>
        <p:nvSpPr>
          <p:cNvPr id="7" name="Text 3"/>
          <p:cNvSpPr/>
          <p:nvPr/>
        </p:nvSpPr>
        <p:spPr>
          <a:xfrm>
            <a:off x="2700338" y="1356224"/>
            <a:ext cx="1743075" cy="185738"/>
          </a:xfrm>
          <a:prstGeom prst="rect">
            <a:avLst/>
          </a:prstGeom>
          <a:noFill/>
          <a:ln/>
        </p:spPr>
        <p:txBody>
          <a:bodyPr wrap="none" lIns="0" tIns="0" rIns="0" bIns="0" rtlCol="0" anchor="t">
            <a:spAutoFit/>
          </a:bodyPr>
          <a:lstStyle/>
          <a:p>
            <a:pPr algn="l" indent="0" marL="0">
              <a:lnSpc>
                <a:spcPts val="1500"/>
              </a:lnSpc>
              <a:buNone/>
            </a:pPr>
            <a:r>
              <a:rPr lang="en-US" sz="987" b="1" dirty="0">
                <a:solidFill>
                  <a:srgbClr val="FFFFFF"/>
                </a:solidFill>
              </a:rPr>
              <a:t>Section Title</a:t>
            </a:r>
            <a:endParaRPr lang="en-US" sz="987" dirty="0"/>
          </a:p>
        </p:txBody>
      </p:sp>
      <p:sp>
        <p:nvSpPr>
          <p:cNvPr id="8" name="Text 4"/>
          <p:cNvSpPr/>
          <p:nvPr/>
        </p:nvSpPr>
        <p:spPr>
          <a:xfrm>
            <a:off x="707231" y="2806991"/>
            <a:ext cx="1743075"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FFFFFF"/>
                </a:solidFill>
              </a:rPr>
              <a:t>Item Title</a:t>
            </a:r>
            <a:endParaRPr lang="en-US" sz="885" dirty="0"/>
          </a:p>
        </p:txBody>
      </p:sp>
      <p:sp>
        <p:nvSpPr>
          <p:cNvPr id="9" name="Text 5"/>
          <p:cNvSpPr/>
          <p:nvPr/>
        </p:nvSpPr>
        <p:spPr>
          <a:xfrm>
            <a:off x="2700338" y="2806991"/>
            <a:ext cx="1743075"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FFFFFF"/>
                </a:solidFill>
              </a:rPr>
              <a:t>Body Text</a:t>
            </a:r>
            <a:endParaRPr lang="en-US" sz="834" dirty="0"/>
          </a:p>
        </p:txBody>
      </p:sp>
      <p:sp>
        <p:nvSpPr>
          <p:cNvPr id="10" name="Text 6"/>
          <p:cNvSpPr/>
          <p:nvPr/>
        </p:nvSpPr>
        <p:spPr>
          <a:xfrm>
            <a:off x="707231" y="4029159"/>
            <a:ext cx="1743075"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FFFFFF"/>
                </a:solidFill>
              </a:rPr>
              <a:t>Description</a:t>
            </a:r>
            <a:endParaRPr lang="en-US" sz="780" dirty="0"/>
          </a:p>
        </p:txBody>
      </p:sp>
      <p:sp>
        <p:nvSpPr>
          <p:cNvPr id="11" name="Text 7"/>
          <p:cNvSpPr/>
          <p:nvPr/>
        </p:nvSpPr>
        <p:spPr>
          <a:xfrm>
            <a:off x="2700338" y="4029159"/>
            <a:ext cx="1743075" cy="126802"/>
          </a:xfrm>
          <a:prstGeom prst="rect">
            <a:avLst/>
          </a:prstGeom>
          <a:noFill/>
          <a:ln/>
        </p:spPr>
        <p:txBody>
          <a:bodyPr wrap="none" lIns="0" tIns="0" rIns="0" bIns="0" rtlCol="0" anchor="t">
            <a:spAutoFit/>
          </a:bodyPr>
          <a:lstStyle/>
          <a:p>
            <a:pPr algn="l" indent="0" marL="0">
              <a:lnSpc>
                <a:spcPts val="900"/>
              </a:lnSpc>
              <a:buNone/>
            </a:pPr>
            <a:r>
              <a:rPr lang="en-US" sz="634" b="1" spc="1" kern="0" dirty="0">
                <a:solidFill>
                  <a:srgbClr val="FFFFFF"/>
                </a:solidFill>
              </a:rPr>
              <a:t>Labels</a:t>
            </a:r>
            <a:endParaRPr lang="en-US" sz="634" dirty="0"/>
          </a:p>
        </p:txBody>
      </p:sp>
      <p:sp>
        <p:nvSpPr>
          <p:cNvPr id="12" name="Text 8"/>
          <p:cNvSpPr/>
          <p:nvPr/>
        </p:nvSpPr>
        <p:spPr>
          <a:xfrm>
            <a:off x="4836319" y="1356224"/>
            <a:ext cx="17287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Slide Title</a:t>
            </a:r>
            <a:endParaRPr lang="en-US" sz="584" dirty="0"/>
          </a:p>
        </p:txBody>
      </p:sp>
      <p:sp>
        <p:nvSpPr>
          <p:cNvPr id="13" name="Text 9"/>
          <p:cNvSpPr/>
          <p:nvPr/>
        </p:nvSpPr>
        <p:spPr>
          <a:xfrm>
            <a:off x="4836319" y="1529460"/>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48px • Bold (700)</a:t>
            </a:r>
            <a:endParaRPr lang="en-US" sz="727" dirty="0"/>
          </a:p>
        </p:txBody>
      </p:sp>
      <p:sp>
        <p:nvSpPr>
          <p:cNvPr id="14" name="Text 10"/>
          <p:cNvSpPr/>
          <p:nvPr/>
        </p:nvSpPr>
        <p:spPr>
          <a:xfrm>
            <a:off x="4836319" y="1718044"/>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Line height: 1.2</a:t>
            </a:r>
            <a:endParaRPr lang="en-US" sz="727" dirty="0"/>
          </a:p>
        </p:txBody>
      </p:sp>
      <p:sp>
        <p:nvSpPr>
          <p:cNvPr id="15" name="Text 11"/>
          <p:cNvSpPr/>
          <p:nvPr/>
        </p:nvSpPr>
        <p:spPr>
          <a:xfrm>
            <a:off x="4836319" y="1906628"/>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Letter spacing: -0.5px</a:t>
            </a:r>
            <a:endParaRPr lang="en-US" sz="727" dirty="0"/>
          </a:p>
        </p:txBody>
      </p:sp>
      <p:sp>
        <p:nvSpPr>
          <p:cNvPr id="16" name="Text 12"/>
          <p:cNvSpPr/>
          <p:nvPr/>
        </p:nvSpPr>
        <p:spPr>
          <a:xfrm>
            <a:off x="6843713" y="1356224"/>
            <a:ext cx="17287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Section Title</a:t>
            </a:r>
            <a:endParaRPr lang="en-US" sz="584" dirty="0"/>
          </a:p>
        </p:txBody>
      </p:sp>
      <p:sp>
        <p:nvSpPr>
          <p:cNvPr id="17" name="Text 13"/>
          <p:cNvSpPr/>
          <p:nvPr/>
        </p:nvSpPr>
        <p:spPr>
          <a:xfrm>
            <a:off x="6843713" y="1529460"/>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20px • Semi-bold (600)</a:t>
            </a:r>
            <a:endParaRPr lang="en-US" sz="727" dirty="0"/>
          </a:p>
        </p:txBody>
      </p:sp>
      <p:sp>
        <p:nvSpPr>
          <p:cNvPr id="18" name="Text 14"/>
          <p:cNvSpPr/>
          <p:nvPr/>
        </p:nvSpPr>
        <p:spPr>
          <a:xfrm>
            <a:off x="6843713" y="1718044"/>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Line height: 1.3</a:t>
            </a:r>
            <a:endParaRPr lang="en-US" sz="727" dirty="0"/>
          </a:p>
        </p:txBody>
      </p:sp>
      <p:sp>
        <p:nvSpPr>
          <p:cNvPr id="19" name="Text 15"/>
          <p:cNvSpPr/>
          <p:nvPr/>
        </p:nvSpPr>
        <p:spPr>
          <a:xfrm>
            <a:off x="6843713" y="1906628"/>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Letter spacing: 0px</a:t>
            </a:r>
            <a:endParaRPr lang="en-US" sz="727" dirty="0"/>
          </a:p>
        </p:txBody>
      </p:sp>
      <p:sp>
        <p:nvSpPr>
          <p:cNvPr id="20" name="Text 16"/>
          <p:cNvSpPr/>
          <p:nvPr/>
        </p:nvSpPr>
        <p:spPr>
          <a:xfrm>
            <a:off x="4836319" y="2647206"/>
            <a:ext cx="17287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Item Title</a:t>
            </a:r>
            <a:endParaRPr lang="en-US" sz="584" dirty="0"/>
          </a:p>
        </p:txBody>
      </p:sp>
      <p:sp>
        <p:nvSpPr>
          <p:cNvPr id="21" name="Text 17"/>
          <p:cNvSpPr/>
          <p:nvPr/>
        </p:nvSpPr>
        <p:spPr>
          <a:xfrm>
            <a:off x="4836319" y="2820442"/>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18px • Semi-bold (600)</a:t>
            </a:r>
            <a:endParaRPr lang="en-US" sz="727" dirty="0"/>
          </a:p>
        </p:txBody>
      </p:sp>
      <p:sp>
        <p:nvSpPr>
          <p:cNvPr id="22" name="Text 18"/>
          <p:cNvSpPr/>
          <p:nvPr/>
        </p:nvSpPr>
        <p:spPr>
          <a:xfrm>
            <a:off x="4836319" y="3009026"/>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Line height: 1.3</a:t>
            </a:r>
            <a:endParaRPr lang="en-US" sz="727" dirty="0"/>
          </a:p>
        </p:txBody>
      </p:sp>
      <p:sp>
        <p:nvSpPr>
          <p:cNvPr id="23" name="Text 19"/>
          <p:cNvSpPr/>
          <p:nvPr/>
        </p:nvSpPr>
        <p:spPr>
          <a:xfrm>
            <a:off x="4836319" y="3197609"/>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Letter spacing: 0px</a:t>
            </a:r>
            <a:endParaRPr lang="en-US" sz="727" dirty="0"/>
          </a:p>
        </p:txBody>
      </p:sp>
      <p:sp>
        <p:nvSpPr>
          <p:cNvPr id="24" name="Text 20"/>
          <p:cNvSpPr/>
          <p:nvPr/>
        </p:nvSpPr>
        <p:spPr>
          <a:xfrm>
            <a:off x="6843713" y="2647206"/>
            <a:ext cx="17287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Body Text</a:t>
            </a:r>
            <a:endParaRPr lang="en-US" sz="584" dirty="0"/>
          </a:p>
        </p:txBody>
      </p:sp>
      <p:sp>
        <p:nvSpPr>
          <p:cNvPr id="25" name="Text 21"/>
          <p:cNvSpPr/>
          <p:nvPr/>
        </p:nvSpPr>
        <p:spPr>
          <a:xfrm>
            <a:off x="6843713" y="2820442"/>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16px • Regular (400)</a:t>
            </a:r>
            <a:endParaRPr lang="en-US" sz="727" dirty="0"/>
          </a:p>
        </p:txBody>
      </p:sp>
      <p:sp>
        <p:nvSpPr>
          <p:cNvPr id="26" name="Text 22"/>
          <p:cNvSpPr/>
          <p:nvPr/>
        </p:nvSpPr>
        <p:spPr>
          <a:xfrm>
            <a:off x="6843713" y="3009026"/>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Line height: 1.6</a:t>
            </a:r>
            <a:endParaRPr lang="en-US" sz="727" dirty="0"/>
          </a:p>
        </p:txBody>
      </p:sp>
      <p:sp>
        <p:nvSpPr>
          <p:cNvPr id="27" name="Text 23"/>
          <p:cNvSpPr/>
          <p:nvPr/>
        </p:nvSpPr>
        <p:spPr>
          <a:xfrm>
            <a:off x="6843713" y="3197609"/>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Letter spacing: 0px</a:t>
            </a:r>
            <a:endParaRPr lang="en-US" sz="727" dirty="0"/>
          </a:p>
        </p:txBody>
      </p:sp>
      <p:sp>
        <p:nvSpPr>
          <p:cNvPr id="28" name="Text 24"/>
          <p:cNvSpPr/>
          <p:nvPr/>
        </p:nvSpPr>
        <p:spPr>
          <a:xfrm>
            <a:off x="4836319" y="3938215"/>
            <a:ext cx="17287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Description</a:t>
            </a:r>
            <a:endParaRPr lang="en-US" sz="584" dirty="0"/>
          </a:p>
        </p:txBody>
      </p:sp>
      <p:sp>
        <p:nvSpPr>
          <p:cNvPr id="29" name="Text 25"/>
          <p:cNvSpPr/>
          <p:nvPr/>
        </p:nvSpPr>
        <p:spPr>
          <a:xfrm>
            <a:off x="4836319" y="4111451"/>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15px • Light (300)</a:t>
            </a:r>
            <a:endParaRPr lang="en-US" sz="727" dirty="0"/>
          </a:p>
        </p:txBody>
      </p:sp>
      <p:sp>
        <p:nvSpPr>
          <p:cNvPr id="30" name="Text 26"/>
          <p:cNvSpPr/>
          <p:nvPr/>
        </p:nvSpPr>
        <p:spPr>
          <a:xfrm>
            <a:off x="4836319" y="4300035"/>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Line height: 1.5</a:t>
            </a:r>
            <a:endParaRPr lang="en-US" sz="727" dirty="0"/>
          </a:p>
        </p:txBody>
      </p:sp>
      <p:sp>
        <p:nvSpPr>
          <p:cNvPr id="31" name="Text 27"/>
          <p:cNvSpPr/>
          <p:nvPr/>
        </p:nvSpPr>
        <p:spPr>
          <a:xfrm>
            <a:off x="4836319" y="4488619"/>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Letter spacing: 0px</a:t>
            </a:r>
            <a:endParaRPr lang="en-US" sz="727" dirty="0"/>
          </a:p>
        </p:txBody>
      </p:sp>
      <p:sp>
        <p:nvSpPr>
          <p:cNvPr id="32" name="Text 28"/>
          <p:cNvSpPr/>
          <p:nvPr/>
        </p:nvSpPr>
        <p:spPr>
          <a:xfrm>
            <a:off x="6843713" y="3938215"/>
            <a:ext cx="17287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Labels</a:t>
            </a:r>
            <a:endParaRPr lang="en-US" sz="584" dirty="0"/>
          </a:p>
        </p:txBody>
      </p:sp>
      <p:sp>
        <p:nvSpPr>
          <p:cNvPr id="33" name="Text 29"/>
          <p:cNvSpPr/>
          <p:nvPr/>
        </p:nvSpPr>
        <p:spPr>
          <a:xfrm>
            <a:off x="6843713" y="4111451"/>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13px • Semi-bold (600)</a:t>
            </a:r>
            <a:endParaRPr lang="en-US" sz="727" dirty="0"/>
          </a:p>
        </p:txBody>
      </p:sp>
      <p:sp>
        <p:nvSpPr>
          <p:cNvPr id="34" name="Text 30"/>
          <p:cNvSpPr/>
          <p:nvPr/>
        </p:nvSpPr>
        <p:spPr>
          <a:xfrm>
            <a:off x="6843713" y="4300035"/>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Line height: 1.0</a:t>
            </a:r>
            <a:endParaRPr lang="en-US" sz="727" dirty="0"/>
          </a:p>
        </p:txBody>
      </p:sp>
      <p:sp>
        <p:nvSpPr>
          <p:cNvPr id="35" name="Text 31"/>
          <p:cNvSpPr/>
          <p:nvPr/>
        </p:nvSpPr>
        <p:spPr>
          <a:xfrm>
            <a:off x="6843713" y="4488619"/>
            <a:ext cx="1728788"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E0E0E0"/>
                </a:solidFill>
              </a:rPr>
              <a:t>Letter spacing: 1px</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Colour Theory</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60-30-10 Colour Rule</a:t>
            </a:r>
            <a:endParaRPr lang="en-US" sz="2436" dirty="0"/>
          </a:p>
        </p:txBody>
      </p:sp>
      <p:sp>
        <p:nvSpPr>
          <p:cNvPr id="6" name="Text 2"/>
          <p:cNvSpPr/>
          <p:nvPr/>
        </p:nvSpPr>
        <p:spPr>
          <a:xfrm>
            <a:off x="571500" y="1356224"/>
            <a:ext cx="247648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Proportional Distribution</a:t>
            </a:r>
            <a:endParaRPr lang="en-US" sz="784" dirty="0"/>
          </a:p>
        </p:txBody>
      </p:sp>
      <p:sp>
        <p:nvSpPr>
          <p:cNvPr id="7" name="Text 3"/>
          <p:cNvSpPr/>
          <p:nvPr/>
        </p:nvSpPr>
        <p:spPr>
          <a:xfrm>
            <a:off x="2536031" y="1786635"/>
            <a:ext cx="285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60%</a:t>
            </a:r>
            <a:endParaRPr lang="en-US" sz="683" dirty="0"/>
          </a:p>
        </p:txBody>
      </p:sp>
      <p:sp>
        <p:nvSpPr>
          <p:cNvPr id="8" name="Text 4"/>
          <p:cNvSpPr/>
          <p:nvPr/>
        </p:nvSpPr>
        <p:spPr>
          <a:xfrm>
            <a:off x="1678781" y="2129535"/>
            <a:ext cx="285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30%</a:t>
            </a:r>
            <a:endParaRPr lang="en-US" sz="683" dirty="0"/>
          </a:p>
        </p:txBody>
      </p:sp>
      <p:sp>
        <p:nvSpPr>
          <p:cNvPr id="9" name="Text 5"/>
          <p:cNvSpPr/>
          <p:nvPr/>
        </p:nvSpPr>
        <p:spPr>
          <a:xfrm>
            <a:off x="1107281" y="2472435"/>
            <a:ext cx="285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10%</a:t>
            </a:r>
            <a:endParaRPr lang="en-US" sz="683" dirty="0"/>
          </a:p>
        </p:txBody>
      </p:sp>
      <p:sp>
        <p:nvSpPr>
          <p:cNvPr id="10" name="Text 6"/>
          <p:cNvSpPr/>
          <p:nvPr/>
        </p:nvSpPr>
        <p:spPr>
          <a:xfrm>
            <a:off x="3333731" y="1356224"/>
            <a:ext cx="24765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Colour Palette</a:t>
            </a:r>
            <a:endParaRPr lang="en-US" sz="784" dirty="0"/>
          </a:p>
        </p:txBody>
      </p:sp>
      <p:sp>
        <p:nvSpPr>
          <p:cNvPr id="11" name="Text 7"/>
          <p:cNvSpPr/>
          <p:nvPr/>
        </p:nvSpPr>
        <p:spPr>
          <a:xfrm>
            <a:off x="3869513" y="1711626"/>
            <a:ext cx="1940728"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FFFFFF"/>
                </a:solidFill>
              </a:rPr>
              <a:t>Primary</a:t>
            </a:r>
            <a:endParaRPr lang="en-US" sz="634" dirty="0"/>
          </a:p>
        </p:txBody>
      </p:sp>
      <p:sp>
        <p:nvSpPr>
          <p:cNvPr id="12" name="Text 8"/>
          <p:cNvSpPr/>
          <p:nvPr/>
        </p:nvSpPr>
        <p:spPr>
          <a:xfrm>
            <a:off x="3869513" y="1867002"/>
            <a:ext cx="194072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E0E0E0"/>
                </a:solidFill>
              </a:rPr>
              <a:t>#121212</a:t>
            </a:r>
            <a:endParaRPr lang="en-US" sz="621" dirty="0"/>
          </a:p>
        </p:txBody>
      </p:sp>
      <p:sp>
        <p:nvSpPr>
          <p:cNvPr id="13" name="Text 9"/>
          <p:cNvSpPr/>
          <p:nvPr/>
        </p:nvSpPr>
        <p:spPr>
          <a:xfrm>
            <a:off x="3869513" y="1997376"/>
            <a:ext cx="194072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E0E0E0"/>
                </a:solidFill>
              </a:rPr>
              <a:t>oklch(0.141 0.005 285.823)</a:t>
            </a:r>
            <a:endParaRPr lang="en-US" sz="621" dirty="0"/>
          </a:p>
        </p:txBody>
      </p:sp>
      <p:sp>
        <p:nvSpPr>
          <p:cNvPr id="14" name="Text 10"/>
          <p:cNvSpPr/>
          <p:nvPr/>
        </p:nvSpPr>
        <p:spPr>
          <a:xfrm>
            <a:off x="3869513" y="2127749"/>
            <a:ext cx="194072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22D3EE"/>
                </a:solidFill>
              </a:rPr>
              <a:t>Contrast: 21:1</a:t>
            </a:r>
            <a:endParaRPr lang="en-US" sz="568" dirty="0"/>
          </a:p>
        </p:txBody>
      </p:sp>
      <p:sp>
        <p:nvSpPr>
          <p:cNvPr id="15" name="Text 11"/>
          <p:cNvSpPr/>
          <p:nvPr/>
        </p:nvSpPr>
        <p:spPr>
          <a:xfrm>
            <a:off x="3869513" y="2349205"/>
            <a:ext cx="1940728"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FFFFFF"/>
                </a:solidFill>
              </a:rPr>
              <a:t>Secondary</a:t>
            </a:r>
            <a:endParaRPr lang="en-US" sz="634" dirty="0"/>
          </a:p>
        </p:txBody>
      </p:sp>
      <p:sp>
        <p:nvSpPr>
          <p:cNvPr id="16" name="Text 12"/>
          <p:cNvSpPr/>
          <p:nvPr/>
        </p:nvSpPr>
        <p:spPr>
          <a:xfrm>
            <a:off x="3869513" y="2504582"/>
            <a:ext cx="194072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E0E0E0"/>
                </a:solidFill>
              </a:rPr>
              <a:t>#FFFFFF</a:t>
            </a:r>
            <a:endParaRPr lang="en-US" sz="621" dirty="0"/>
          </a:p>
        </p:txBody>
      </p:sp>
      <p:sp>
        <p:nvSpPr>
          <p:cNvPr id="17" name="Text 13"/>
          <p:cNvSpPr/>
          <p:nvPr/>
        </p:nvSpPr>
        <p:spPr>
          <a:xfrm>
            <a:off x="3869513" y="2634955"/>
            <a:ext cx="194072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E0E0E0"/>
                </a:solidFill>
              </a:rPr>
              <a:t>oklch(0.85 0.005 65)</a:t>
            </a:r>
            <a:endParaRPr lang="en-US" sz="621" dirty="0"/>
          </a:p>
        </p:txBody>
      </p:sp>
      <p:sp>
        <p:nvSpPr>
          <p:cNvPr id="18" name="Text 14"/>
          <p:cNvSpPr/>
          <p:nvPr/>
        </p:nvSpPr>
        <p:spPr>
          <a:xfrm>
            <a:off x="3869513" y="2765329"/>
            <a:ext cx="194072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22D3EE"/>
                </a:solidFill>
              </a:rPr>
              <a:t>Contrast: 1:1</a:t>
            </a:r>
            <a:endParaRPr lang="en-US" sz="568" dirty="0"/>
          </a:p>
        </p:txBody>
      </p:sp>
      <p:sp>
        <p:nvSpPr>
          <p:cNvPr id="19" name="Text 15"/>
          <p:cNvSpPr/>
          <p:nvPr/>
        </p:nvSpPr>
        <p:spPr>
          <a:xfrm>
            <a:off x="3869513" y="2986785"/>
            <a:ext cx="1940728"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FFFFFF"/>
                </a:solidFill>
              </a:rPr>
              <a:t>Accent</a:t>
            </a:r>
            <a:endParaRPr lang="en-US" sz="634" dirty="0"/>
          </a:p>
        </p:txBody>
      </p:sp>
      <p:sp>
        <p:nvSpPr>
          <p:cNvPr id="20" name="Text 16"/>
          <p:cNvSpPr/>
          <p:nvPr/>
        </p:nvSpPr>
        <p:spPr>
          <a:xfrm>
            <a:off x="3869513" y="3142162"/>
            <a:ext cx="194072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E0E0E0"/>
                </a:solidFill>
              </a:rPr>
              <a:t>#22D3EE</a:t>
            </a:r>
            <a:endParaRPr lang="en-US" sz="621" dirty="0"/>
          </a:p>
        </p:txBody>
      </p:sp>
      <p:sp>
        <p:nvSpPr>
          <p:cNvPr id="21" name="Text 17"/>
          <p:cNvSpPr/>
          <p:nvPr/>
        </p:nvSpPr>
        <p:spPr>
          <a:xfrm>
            <a:off x="3869513" y="3272535"/>
            <a:ext cx="194072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E0E0E0"/>
                </a:solidFill>
              </a:rPr>
              <a:t>oklch(0.6 0.2 200)</a:t>
            </a:r>
            <a:endParaRPr lang="en-US" sz="621" dirty="0"/>
          </a:p>
        </p:txBody>
      </p:sp>
      <p:sp>
        <p:nvSpPr>
          <p:cNvPr id="22" name="Text 18"/>
          <p:cNvSpPr/>
          <p:nvPr/>
        </p:nvSpPr>
        <p:spPr>
          <a:xfrm>
            <a:off x="3869513" y="3402909"/>
            <a:ext cx="194072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22D3EE"/>
                </a:solidFill>
              </a:rPr>
              <a:t>Contrast: 8:1</a:t>
            </a:r>
            <a:endParaRPr lang="en-US" sz="568" dirty="0"/>
          </a:p>
        </p:txBody>
      </p:sp>
      <p:sp>
        <p:nvSpPr>
          <p:cNvPr id="23" name="Text 19"/>
          <p:cNvSpPr/>
          <p:nvPr/>
        </p:nvSpPr>
        <p:spPr>
          <a:xfrm>
            <a:off x="6095991" y="1356224"/>
            <a:ext cx="247648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Application Example</a:t>
            </a:r>
            <a:endParaRPr lang="en-US" sz="784" dirty="0"/>
          </a:p>
        </p:txBody>
      </p:sp>
      <p:sp>
        <p:nvSpPr>
          <p:cNvPr id="24" name="Shape 20"/>
          <p:cNvSpPr/>
          <p:nvPr/>
        </p:nvSpPr>
        <p:spPr>
          <a:xfrm>
            <a:off x="6260297" y="1711626"/>
            <a:ext cx="2312175" cy="1428750"/>
          </a:xfrm>
          <a:prstGeom prst="rect">
            <a:avLst/>
          </a:prstGeom>
          <a:solidFill>
            <a:srgbClr val="1A1A1A"/>
          </a:solidFill>
          <a:ln w="9144">
            <a:solidFill>
              <a:srgbClr val="22D3EE"/>
            </a:solidFill>
            <a:prstDash val="solid"/>
          </a:ln>
        </p:spPr>
      </p:sp>
      <p:sp>
        <p:nvSpPr>
          <p:cNvPr id="25" name="Text 21"/>
          <p:cNvSpPr/>
          <p:nvPr/>
        </p:nvSpPr>
        <p:spPr>
          <a:xfrm>
            <a:off x="6260297" y="3283251"/>
            <a:ext cx="2312175" cy="232172"/>
          </a:xfrm>
          <a:prstGeom prst="rect">
            <a:avLst/>
          </a:prstGeom>
          <a:noFill/>
          <a:ln/>
        </p:spPr>
        <p:txBody>
          <a:bodyPr wrap="square" lIns="0" tIns="0" rIns="0" bIns="0" rtlCol="0" anchor="t">
            <a:spAutoFit/>
          </a:bodyPr>
          <a:lstStyle/>
          <a:p>
            <a:pPr algn="l" indent="0" marL="0">
              <a:lnSpc>
                <a:spcPts val="800"/>
              </a:lnSpc>
              <a:buNone/>
            </a:pPr>
            <a:r>
              <a:rPr lang="en-US" sz="621" dirty="0">
                <a:solidFill>
                  <a:srgbClr val="E0E0E0"/>
                </a:solidFill>
              </a:rPr>
              <a:t>60% primary background, 30% secondary text, 10% accent emphasis</a:t>
            </a:r>
            <a:endParaRPr lang="en-US" sz="62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Layout Variety</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Five Proven Layout Patterns</a:t>
            </a:r>
            <a:endParaRPr lang="en-US" sz="2436" dirty="0"/>
          </a:p>
        </p:txBody>
      </p:sp>
      <p:sp>
        <p:nvSpPr>
          <p:cNvPr id="6" name="Text 2"/>
          <p:cNvSpPr/>
          <p:nvPr/>
        </p:nvSpPr>
        <p:spPr>
          <a:xfrm>
            <a:off x="2193131" y="1401766"/>
            <a:ext cx="637936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Asymmetric Split</a:t>
            </a:r>
            <a:endParaRPr lang="en-US" sz="885" dirty="0"/>
          </a:p>
        </p:txBody>
      </p:sp>
      <p:sp>
        <p:nvSpPr>
          <p:cNvPr id="7" name="Text 3"/>
          <p:cNvSpPr/>
          <p:nvPr/>
        </p:nvSpPr>
        <p:spPr>
          <a:xfrm>
            <a:off x="2193131" y="1633937"/>
            <a:ext cx="6379369"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1fr 2fr grid for hero impact and visual interest</a:t>
            </a:r>
            <a:endParaRPr lang="en-US" sz="727" dirty="0"/>
          </a:p>
        </p:txBody>
      </p:sp>
      <p:sp>
        <p:nvSpPr>
          <p:cNvPr id="8" name="Text 4"/>
          <p:cNvSpPr/>
          <p:nvPr/>
        </p:nvSpPr>
        <p:spPr>
          <a:xfrm>
            <a:off x="2193131" y="1841106"/>
            <a:ext cx="6379369"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Hero slides, problem/solution pairs, keyblades &amp; devetts</a:t>
            </a:r>
            <a:endParaRPr lang="en-US" sz="674" dirty="0"/>
          </a:p>
        </p:txBody>
      </p:sp>
      <p:sp>
        <p:nvSpPr>
          <p:cNvPr id="9" name="Text 5"/>
          <p:cNvSpPr/>
          <p:nvPr/>
        </p:nvSpPr>
        <p:spPr>
          <a:xfrm>
            <a:off x="2193131" y="2173291"/>
            <a:ext cx="637936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2x2 Grid</a:t>
            </a:r>
            <a:endParaRPr lang="en-US" sz="885" dirty="0"/>
          </a:p>
        </p:txBody>
      </p:sp>
      <p:sp>
        <p:nvSpPr>
          <p:cNvPr id="10" name="Text 6"/>
          <p:cNvSpPr/>
          <p:nvPr/>
        </p:nvSpPr>
        <p:spPr>
          <a:xfrm>
            <a:off x="2193131" y="2405462"/>
            <a:ext cx="6379369"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Four equal quadrants for related concepts</a:t>
            </a:r>
            <a:endParaRPr lang="en-US" sz="727" dirty="0"/>
          </a:p>
        </p:txBody>
      </p:sp>
      <p:sp>
        <p:nvSpPr>
          <p:cNvPr id="11" name="Text 7"/>
          <p:cNvSpPr/>
          <p:nvPr/>
        </p:nvSpPr>
        <p:spPr>
          <a:xfrm>
            <a:off x="2193131" y="2612631"/>
            <a:ext cx="6379369"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Four concepts, challenges, benefits, features</a:t>
            </a:r>
            <a:endParaRPr lang="en-US" sz="674" dirty="0"/>
          </a:p>
        </p:txBody>
      </p:sp>
      <p:sp>
        <p:nvSpPr>
          <p:cNvPr id="12" name="Text 8"/>
          <p:cNvSpPr/>
          <p:nvPr/>
        </p:nvSpPr>
        <p:spPr>
          <a:xfrm>
            <a:off x="2193131" y="2944816"/>
            <a:ext cx="637936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3-Column Grid</a:t>
            </a:r>
            <a:endParaRPr lang="en-US" sz="885" dirty="0"/>
          </a:p>
        </p:txBody>
      </p:sp>
      <p:sp>
        <p:nvSpPr>
          <p:cNvPr id="13" name="Text 9"/>
          <p:cNvSpPr/>
          <p:nvPr/>
        </p:nvSpPr>
        <p:spPr>
          <a:xfrm>
            <a:off x="2193131" y="3176987"/>
            <a:ext cx="6379369"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Three parallel concepts with equal emphasis</a:t>
            </a:r>
            <a:endParaRPr lang="en-US" sz="727" dirty="0"/>
          </a:p>
        </p:txBody>
      </p:sp>
      <p:sp>
        <p:nvSpPr>
          <p:cNvPr id="14" name="Text 10"/>
          <p:cNvSpPr/>
          <p:nvPr/>
        </p:nvSpPr>
        <p:spPr>
          <a:xfrm>
            <a:off x="2193131" y="3384156"/>
            <a:ext cx="6379369"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Assembly lines, pillars, process stages, benefits</a:t>
            </a:r>
            <a:endParaRPr lang="en-US" sz="674" dirty="0"/>
          </a:p>
        </p:txBody>
      </p:sp>
      <p:sp>
        <p:nvSpPr>
          <p:cNvPr id="15" name="Text 11"/>
          <p:cNvSpPr/>
          <p:nvPr/>
        </p:nvSpPr>
        <p:spPr>
          <a:xfrm>
            <a:off x="2193131" y="3716341"/>
            <a:ext cx="637936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Vertical List</a:t>
            </a:r>
            <a:endParaRPr lang="en-US" sz="885" dirty="0"/>
          </a:p>
        </p:txBody>
      </p:sp>
      <p:sp>
        <p:nvSpPr>
          <p:cNvPr id="16" name="Text 12"/>
          <p:cNvSpPr/>
          <p:nvPr/>
        </p:nvSpPr>
        <p:spPr>
          <a:xfrm>
            <a:off x="2193131" y="3948512"/>
            <a:ext cx="6379369"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Sequential items with consistent spacing</a:t>
            </a:r>
            <a:endParaRPr lang="en-US" sz="727" dirty="0"/>
          </a:p>
        </p:txBody>
      </p:sp>
      <p:sp>
        <p:nvSpPr>
          <p:cNvPr id="17" name="Text 13"/>
          <p:cNvSpPr/>
          <p:nvPr/>
        </p:nvSpPr>
        <p:spPr>
          <a:xfrm>
            <a:off x="2193131" y="4155681"/>
            <a:ext cx="6379369"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Steps, agenda items, detailed breakdowns, timelines</a:t>
            </a:r>
            <a:endParaRPr lang="en-US" sz="674" dirty="0"/>
          </a:p>
        </p:txBody>
      </p:sp>
      <p:sp>
        <p:nvSpPr>
          <p:cNvPr id="18" name="Text 14"/>
          <p:cNvSpPr/>
          <p:nvPr/>
        </p:nvSpPr>
        <p:spPr>
          <a:xfrm>
            <a:off x="2193131" y="4487866"/>
            <a:ext cx="637936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Funnel</a:t>
            </a:r>
            <a:endParaRPr lang="en-US" sz="885" dirty="0"/>
          </a:p>
        </p:txBody>
      </p:sp>
      <p:sp>
        <p:nvSpPr>
          <p:cNvPr id="19" name="Text 15"/>
          <p:cNvSpPr/>
          <p:nvPr/>
        </p:nvSpPr>
        <p:spPr>
          <a:xfrm>
            <a:off x="2193131" y="4720037"/>
            <a:ext cx="6379369"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Decreasing width to show narrowing/filtering</a:t>
            </a:r>
            <a:endParaRPr lang="en-US" sz="727" dirty="0"/>
          </a:p>
        </p:txBody>
      </p:sp>
      <p:sp>
        <p:nvSpPr>
          <p:cNvPr id="20" name="Text 16"/>
          <p:cNvSpPr/>
          <p:nvPr/>
        </p:nvSpPr>
        <p:spPr>
          <a:xfrm>
            <a:off x="2193131" y="4927206"/>
            <a:ext cx="6379369"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Process flows, results, conclusions, prioritisation</a:t>
            </a:r>
            <a:endParaRPr lang="en-US" sz="67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56712"/>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Technical Foundation</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CSS Architecture Layers</a:t>
            </a:r>
            <a:endParaRPr lang="en-US" sz="2436" dirty="0"/>
          </a:p>
        </p:txBody>
      </p:sp>
      <p:sp>
        <p:nvSpPr>
          <p:cNvPr id="6" name="Shape 2"/>
          <p:cNvSpPr/>
          <p:nvPr/>
        </p:nvSpPr>
        <p:spPr>
          <a:xfrm>
            <a:off x="571500" y="1299074"/>
            <a:ext cx="3900488" cy="925116"/>
          </a:xfrm>
          <a:prstGeom prst="rect">
            <a:avLst/>
          </a:prstGeom>
          <a:solidFill>
            <a:srgbClr val="000000">
              <a:alpha val="0"/>
            </a:srgbClr>
          </a:solidFill>
          <a:ln/>
        </p:spPr>
      </p:sp>
      <p:sp>
        <p:nvSpPr>
          <p:cNvPr id="7" name="Shape 3"/>
          <p:cNvSpPr/>
          <p:nvPr/>
        </p:nvSpPr>
        <p:spPr>
          <a:xfrm>
            <a:off x="571500" y="1299074"/>
            <a:ext cx="28575" cy="925116"/>
          </a:xfrm>
          <a:prstGeom prst="rect">
            <a:avLst/>
          </a:prstGeom>
          <a:solidFill>
            <a:srgbClr val="22D3EE"/>
          </a:solidFill>
          <a:ln/>
        </p:spPr>
      </p:sp>
      <p:sp>
        <p:nvSpPr>
          <p:cNvPr id="8" name="Text 4"/>
          <p:cNvSpPr/>
          <p:nvPr/>
        </p:nvSpPr>
        <p:spPr>
          <a:xfrm>
            <a:off x="714375" y="1384799"/>
            <a:ext cx="27574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Layer 1</a:t>
            </a:r>
            <a:endParaRPr lang="en-US" sz="584" dirty="0"/>
          </a:p>
        </p:txBody>
      </p:sp>
      <p:sp>
        <p:nvSpPr>
          <p:cNvPr id="9" name="Text 5"/>
          <p:cNvSpPr/>
          <p:nvPr/>
        </p:nvSpPr>
        <p:spPr>
          <a:xfrm>
            <a:off x="714375" y="1558035"/>
            <a:ext cx="275748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Reset &amp; Base</a:t>
            </a:r>
            <a:endParaRPr lang="en-US" sz="885" dirty="0"/>
          </a:p>
        </p:txBody>
      </p:sp>
      <p:sp>
        <p:nvSpPr>
          <p:cNvPr id="10" name="Text 6"/>
          <p:cNvSpPr/>
          <p:nvPr/>
        </p:nvSpPr>
        <p:spPr>
          <a:xfrm>
            <a:off x="714375" y="1790207"/>
            <a:ext cx="27574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Foundational styles for all elements</a:t>
            </a:r>
            <a:endParaRPr lang="en-US" sz="727" dirty="0"/>
          </a:p>
        </p:txBody>
      </p:sp>
      <p:sp>
        <p:nvSpPr>
          <p:cNvPr id="11" name="Text 7"/>
          <p:cNvSpPr/>
          <p:nvPr/>
        </p:nvSpPr>
        <p:spPr>
          <a:xfrm>
            <a:off x="714375" y="2011663"/>
            <a:ext cx="2757488"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margin: 0; padding: 0; font-family</a:t>
            </a:r>
            <a:endParaRPr lang="en-US" sz="674" dirty="0"/>
          </a:p>
        </p:txBody>
      </p:sp>
      <p:sp>
        <p:nvSpPr>
          <p:cNvPr id="12" name="Shape 8"/>
          <p:cNvSpPr/>
          <p:nvPr/>
        </p:nvSpPr>
        <p:spPr>
          <a:xfrm>
            <a:off x="4672013" y="1299074"/>
            <a:ext cx="3900488" cy="925116"/>
          </a:xfrm>
          <a:prstGeom prst="rect">
            <a:avLst/>
          </a:prstGeom>
          <a:solidFill>
            <a:srgbClr val="000000">
              <a:alpha val="0"/>
            </a:srgbClr>
          </a:solidFill>
          <a:ln/>
        </p:spPr>
      </p:sp>
      <p:sp>
        <p:nvSpPr>
          <p:cNvPr id="13" name="Shape 9"/>
          <p:cNvSpPr/>
          <p:nvPr/>
        </p:nvSpPr>
        <p:spPr>
          <a:xfrm>
            <a:off x="4672013" y="1299074"/>
            <a:ext cx="28575" cy="925116"/>
          </a:xfrm>
          <a:prstGeom prst="rect">
            <a:avLst/>
          </a:prstGeom>
          <a:solidFill>
            <a:srgbClr val="22D3EE"/>
          </a:solidFill>
          <a:ln/>
        </p:spPr>
      </p:sp>
      <p:sp>
        <p:nvSpPr>
          <p:cNvPr id="14" name="Text 10"/>
          <p:cNvSpPr/>
          <p:nvPr/>
        </p:nvSpPr>
        <p:spPr>
          <a:xfrm>
            <a:off x="4814888" y="1384799"/>
            <a:ext cx="27574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Layer 2</a:t>
            </a:r>
            <a:endParaRPr lang="en-US" sz="584" dirty="0"/>
          </a:p>
        </p:txBody>
      </p:sp>
      <p:sp>
        <p:nvSpPr>
          <p:cNvPr id="15" name="Text 11"/>
          <p:cNvSpPr/>
          <p:nvPr/>
        </p:nvSpPr>
        <p:spPr>
          <a:xfrm>
            <a:off x="4814888" y="1558035"/>
            <a:ext cx="275748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Slide Container</a:t>
            </a:r>
            <a:endParaRPr lang="en-US" sz="885" dirty="0"/>
          </a:p>
        </p:txBody>
      </p:sp>
      <p:sp>
        <p:nvSpPr>
          <p:cNvPr id="16" name="Text 12"/>
          <p:cNvSpPr/>
          <p:nvPr/>
        </p:nvSpPr>
        <p:spPr>
          <a:xfrm>
            <a:off x="4814888" y="1790207"/>
            <a:ext cx="27574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Main wrapper with dimensions and layout</a:t>
            </a:r>
            <a:endParaRPr lang="en-US" sz="727" dirty="0"/>
          </a:p>
        </p:txBody>
      </p:sp>
      <p:sp>
        <p:nvSpPr>
          <p:cNvPr id="17" name="Text 13"/>
          <p:cNvSpPr/>
          <p:nvPr/>
        </p:nvSpPr>
        <p:spPr>
          <a:xfrm>
            <a:off x="4814888" y="2011663"/>
            <a:ext cx="2757488"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1280px, flex, relative, overflow: hidden</a:t>
            </a:r>
            <a:endParaRPr lang="en-US" sz="674" dirty="0"/>
          </a:p>
        </p:txBody>
      </p:sp>
      <p:sp>
        <p:nvSpPr>
          <p:cNvPr id="18" name="Shape 14"/>
          <p:cNvSpPr/>
          <p:nvPr/>
        </p:nvSpPr>
        <p:spPr>
          <a:xfrm>
            <a:off x="571500" y="2309915"/>
            <a:ext cx="3900488" cy="925116"/>
          </a:xfrm>
          <a:prstGeom prst="rect">
            <a:avLst/>
          </a:prstGeom>
          <a:solidFill>
            <a:srgbClr val="000000">
              <a:alpha val="0"/>
            </a:srgbClr>
          </a:solidFill>
          <a:ln/>
        </p:spPr>
      </p:sp>
      <p:sp>
        <p:nvSpPr>
          <p:cNvPr id="19" name="Shape 15"/>
          <p:cNvSpPr/>
          <p:nvPr/>
        </p:nvSpPr>
        <p:spPr>
          <a:xfrm>
            <a:off x="571500" y="2309915"/>
            <a:ext cx="28575" cy="925116"/>
          </a:xfrm>
          <a:prstGeom prst="rect">
            <a:avLst/>
          </a:prstGeom>
          <a:solidFill>
            <a:srgbClr val="22D3EE"/>
          </a:solidFill>
          <a:ln/>
        </p:spPr>
      </p:sp>
      <p:sp>
        <p:nvSpPr>
          <p:cNvPr id="20" name="Text 16"/>
          <p:cNvSpPr/>
          <p:nvPr/>
        </p:nvSpPr>
        <p:spPr>
          <a:xfrm>
            <a:off x="714375" y="2395640"/>
            <a:ext cx="27574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Layer 3</a:t>
            </a:r>
            <a:endParaRPr lang="en-US" sz="584" dirty="0"/>
          </a:p>
        </p:txBody>
      </p:sp>
      <p:sp>
        <p:nvSpPr>
          <p:cNvPr id="21" name="Text 17"/>
          <p:cNvSpPr/>
          <p:nvPr/>
        </p:nvSpPr>
        <p:spPr>
          <a:xfrm>
            <a:off x="714375" y="2568876"/>
            <a:ext cx="275748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Background Elements</a:t>
            </a:r>
            <a:endParaRPr lang="en-US" sz="885" dirty="0"/>
          </a:p>
        </p:txBody>
      </p:sp>
      <p:sp>
        <p:nvSpPr>
          <p:cNvPr id="22" name="Text 18"/>
          <p:cNvSpPr/>
          <p:nvPr/>
        </p:nvSpPr>
        <p:spPr>
          <a:xfrm>
            <a:off x="714375" y="2801048"/>
            <a:ext cx="27574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Pseudo-elements and decorative shapes</a:t>
            </a:r>
            <a:endParaRPr lang="en-US" sz="727" dirty="0"/>
          </a:p>
        </p:txBody>
      </p:sp>
      <p:sp>
        <p:nvSpPr>
          <p:cNvPr id="23" name="Text 19"/>
          <p:cNvSpPr/>
          <p:nvPr/>
        </p:nvSpPr>
        <p:spPr>
          <a:xfrm>
            <a:off x="714375" y="3022504"/>
            <a:ext cx="2757488"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::before, ::after, position: absolute</a:t>
            </a:r>
            <a:endParaRPr lang="en-US" sz="674" dirty="0"/>
          </a:p>
        </p:txBody>
      </p:sp>
      <p:sp>
        <p:nvSpPr>
          <p:cNvPr id="24" name="Shape 20"/>
          <p:cNvSpPr/>
          <p:nvPr/>
        </p:nvSpPr>
        <p:spPr>
          <a:xfrm>
            <a:off x="4672013" y="2309915"/>
            <a:ext cx="3900488" cy="925116"/>
          </a:xfrm>
          <a:prstGeom prst="rect">
            <a:avLst/>
          </a:prstGeom>
          <a:solidFill>
            <a:srgbClr val="000000">
              <a:alpha val="0"/>
            </a:srgbClr>
          </a:solidFill>
          <a:ln/>
        </p:spPr>
      </p:sp>
      <p:sp>
        <p:nvSpPr>
          <p:cNvPr id="25" name="Shape 21"/>
          <p:cNvSpPr/>
          <p:nvPr/>
        </p:nvSpPr>
        <p:spPr>
          <a:xfrm>
            <a:off x="4672013" y="2309915"/>
            <a:ext cx="28575" cy="925116"/>
          </a:xfrm>
          <a:prstGeom prst="rect">
            <a:avLst/>
          </a:prstGeom>
          <a:solidFill>
            <a:srgbClr val="22D3EE"/>
          </a:solidFill>
          <a:ln/>
        </p:spPr>
      </p:sp>
      <p:sp>
        <p:nvSpPr>
          <p:cNvPr id="26" name="Text 22"/>
          <p:cNvSpPr/>
          <p:nvPr/>
        </p:nvSpPr>
        <p:spPr>
          <a:xfrm>
            <a:off x="4814888" y="2395640"/>
            <a:ext cx="27574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Layer 4</a:t>
            </a:r>
            <a:endParaRPr lang="en-US" sz="584" dirty="0"/>
          </a:p>
        </p:txBody>
      </p:sp>
      <p:sp>
        <p:nvSpPr>
          <p:cNvPr id="27" name="Text 23"/>
          <p:cNvSpPr/>
          <p:nvPr/>
        </p:nvSpPr>
        <p:spPr>
          <a:xfrm>
            <a:off x="4814888" y="2568876"/>
            <a:ext cx="275748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Content Wrapper</a:t>
            </a:r>
            <a:endParaRPr lang="en-US" sz="885" dirty="0"/>
          </a:p>
        </p:txBody>
      </p:sp>
      <p:sp>
        <p:nvSpPr>
          <p:cNvPr id="28" name="Text 24"/>
          <p:cNvSpPr/>
          <p:nvPr/>
        </p:nvSpPr>
        <p:spPr>
          <a:xfrm>
            <a:off x="4814888" y="2801048"/>
            <a:ext cx="27574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Header and main content sections</a:t>
            </a:r>
            <a:endParaRPr lang="en-US" sz="727" dirty="0"/>
          </a:p>
        </p:txBody>
      </p:sp>
      <p:sp>
        <p:nvSpPr>
          <p:cNvPr id="29" name="Text 25"/>
          <p:cNvSpPr/>
          <p:nvPr/>
        </p:nvSpPr>
        <p:spPr>
          <a:xfrm>
            <a:off x="4814888" y="3022504"/>
            <a:ext cx="2757488"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margin-bottom, z-index management</a:t>
            </a:r>
            <a:endParaRPr lang="en-US" sz="674" dirty="0"/>
          </a:p>
        </p:txBody>
      </p:sp>
      <p:sp>
        <p:nvSpPr>
          <p:cNvPr id="30" name="Shape 26"/>
          <p:cNvSpPr/>
          <p:nvPr/>
        </p:nvSpPr>
        <p:spPr>
          <a:xfrm>
            <a:off x="571500" y="3320755"/>
            <a:ext cx="3900488" cy="925116"/>
          </a:xfrm>
          <a:prstGeom prst="rect">
            <a:avLst/>
          </a:prstGeom>
          <a:solidFill>
            <a:srgbClr val="000000">
              <a:alpha val="0"/>
            </a:srgbClr>
          </a:solidFill>
          <a:ln/>
        </p:spPr>
      </p:sp>
      <p:sp>
        <p:nvSpPr>
          <p:cNvPr id="31" name="Shape 27"/>
          <p:cNvSpPr/>
          <p:nvPr/>
        </p:nvSpPr>
        <p:spPr>
          <a:xfrm>
            <a:off x="571500" y="3320755"/>
            <a:ext cx="28575" cy="925116"/>
          </a:xfrm>
          <a:prstGeom prst="rect">
            <a:avLst/>
          </a:prstGeom>
          <a:solidFill>
            <a:srgbClr val="22D3EE"/>
          </a:solidFill>
          <a:ln/>
        </p:spPr>
      </p:sp>
      <p:sp>
        <p:nvSpPr>
          <p:cNvPr id="32" name="Text 28"/>
          <p:cNvSpPr/>
          <p:nvPr/>
        </p:nvSpPr>
        <p:spPr>
          <a:xfrm>
            <a:off x="714375" y="3406480"/>
            <a:ext cx="27574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Layer 5</a:t>
            </a:r>
            <a:endParaRPr lang="en-US" sz="584" dirty="0"/>
          </a:p>
        </p:txBody>
      </p:sp>
      <p:sp>
        <p:nvSpPr>
          <p:cNvPr id="33" name="Text 29"/>
          <p:cNvSpPr/>
          <p:nvPr/>
        </p:nvSpPr>
        <p:spPr>
          <a:xfrm>
            <a:off x="714375" y="3579716"/>
            <a:ext cx="275748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Typography</a:t>
            </a:r>
            <a:endParaRPr lang="en-US" sz="885" dirty="0"/>
          </a:p>
        </p:txBody>
      </p:sp>
      <p:sp>
        <p:nvSpPr>
          <p:cNvPr id="34" name="Text 30"/>
          <p:cNvSpPr/>
          <p:nvPr/>
        </p:nvSpPr>
        <p:spPr>
          <a:xfrm>
            <a:off x="714375" y="3811888"/>
            <a:ext cx="27574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Font sizes, weights, and text styling</a:t>
            </a:r>
            <a:endParaRPr lang="en-US" sz="727" dirty="0"/>
          </a:p>
        </p:txBody>
      </p:sp>
      <p:sp>
        <p:nvSpPr>
          <p:cNvPr id="35" name="Text 31"/>
          <p:cNvSpPr/>
          <p:nvPr/>
        </p:nvSpPr>
        <p:spPr>
          <a:xfrm>
            <a:off x="714375" y="4033345"/>
            <a:ext cx="2757488"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font-size, font-weight, line-height</a:t>
            </a:r>
            <a:endParaRPr lang="en-US" sz="674" dirty="0"/>
          </a:p>
        </p:txBody>
      </p:sp>
      <p:sp>
        <p:nvSpPr>
          <p:cNvPr id="36" name="Shape 32"/>
          <p:cNvSpPr/>
          <p:nvPr/>
        </p:nvSpPr>
        <p:spPr>
          <a:xfrm>
            <a:off x="4672013" y="3320755"/>
            <a:ext cx="3900488" cy="925116"/>
          </a:xfrm>
          <a:prstGeom prst="rect">
            <a:avLst/>
          </a:prstGeom>
          <a:solidFill>
            <a:srgbClr val="000000">
              <a:alpha val="0"/>
            </a:srgbClr>
          </a:solidFill>
          <a:ln/>
        </p:spPr>
      </p:sp>
      <p:sp>
        <p:nvSpPr>
          <p:cNvPr id="37" name="Shape 33"/>
          <p:cNvSpPr/>
          <p:nvPr/>
        </p:nvSpPr>
        <p:spPr>
          <a:xfrm>
            <a:off x="4672013" y="3320755"/>
            <a:ext cx="28575" cy="925116"/>
          </a:xfrm>
          <a:prstGeom prst="rect">
            <a:avLst/>
          </a:prstGeom>
          <a:solidFill>
            <a:srgbClr val="22D3EE"/>
          </a:solidFill>
          <a:ln/>
        </p:spPr>
      </p:sp>
      <p:sp>
        <p:nvSpPr>
          <p:cNvPr id="38" name="Text 34"/>
          <p:cNvSpPr/>
          <p:nvPr/>
        </p:nvSpPr>
        <p:spPr>
          <a:xfrm>
            <a:off x="4814888" y="3406480"/>
            <a:ext cx="27574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Layer 6</a:t>
            </a:r>
            <a:endParaRPr lang="en-US" sz="584" dirty="0"/>
          </a:p>
        </p:txBody>
      </p:sp>
      <p:sp>
        <p:nvSpPr>
          <p:cNvPr id="39" name="Text 35"/>
          <p:cNvSpPr/>
          <p:nvPr/>
        </p:nvSpPr>
        <p:spPr>
          <a:xfrm>
            <a:off x="4814888" y="3579716"/>
            <a:ext cx="275748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Layout Components</a:t>
            </a:r>
            <a:endParaRPr lang="en-US" sz="885" dirty="0"/>
          </a:p>
        </p:txBody>
      </p:sp>
      <p:sp>
        <p:nvSpPr>
          <p:cNvPr id="40" name="Text 36"/>
          <p:cNvSpPr/>
          <p:nvPr/>
        </p:nvSpPr>
        <p:spPr>
          <a:xfrm>
            <a:off x="4814888" y="3811888"/>
            <a:ext cx="27574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Grid and Flexbox layout systems</a:t>
            </a:r>
            <a:endParaRPr lang="en-US" sz="727" dirty="0"/>
          </a:p>
        </p:txBody>
      </p:sp>
      <p:sp>
        <p:nvSpPr>
          <p:cNvPr id="41" name="Text 37"/>
          <p:cNvSpPr/>
          <p:nvPr/>
        </p:nvSpPr>
        <p:spPr>
          <a:xfrm>
            <a:off x="4814888" y="4033345"/>
            <a:ext cx="2757488"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display: grid, display: flex, gap</a:t>
            </a:r>
            <a:endParaRPr lang="en-US" sz="674" dirty="0"/>
          </a:p>
        </p:txBody>
      </p:sp>
      <p:sp>
        <p:nvSpPr>
          <p:cNvPr id="42" name="Shape 38"/>
          <p:cNvSpPr/>
          <p:nvPr/>
        </p:nvSpPr>
        <p:spPr>
          <a:xfrm>
            <a:off x="571500" y="4331596"/>
            <a:ext cx="3900488" cy="925116"/>
          </a:xfrm>
          <a:prstGeom prst="rect">
            <a:avLst/>
          </a:prstGeom>
          <a:solidFill>
            <a:srgbClr val="000000">
              <a:alpha val="0"/>
            </a:srgbClr>
          </a:solidFill>
          <a:ln/>
        </p:spPr>
      </p:sp>
      <p:sp>
        <p:nvSpPr>
          <p:cNvPr id="43" name="Shape 39"/>
          <p:cNvSpPr/>
          <p:nvPr/>
        </p:nvSpPr>
        <p:spPr>
          <a:xfrm>
            <a:off x="571500" y="4331596"/>
            <a:ext cx="28575" cy="925116"/>
          </a:xfrm>
          <a:prstGeom prst="rect">
            <a:avLst/>
          </a:prstGeom>
          <a:solidFill>
            <a:srgbClr val="22D3EE"/>
          </a:solidFill>
          <a:ln/>
        </p:spPr>
      </p:sp>
      <p:sp>
        <p:nvSpPr>
          <p:cNvPr id="44" name="Text 40"/>
          <p:cNvSpPr/>
          <p:nvPr/>
        </p:nvSpPr>
        <p:spPr>
          <a:xfrm>
            <a:off x="714375" y="4417321"/>
            <a:ext cx="275748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Layer 7</a:t>
            </a:r>
            <a:endParaRPr lang="en-US" sz="584" dirty="0"/>
          </a:p>
        </p:txBody>
      </p:sp>
      <p:sp>
        <p:nvSpPr>
          <p:cNvPr id="45" name="Text 41"/>
          <p:cNvSpPr/>
          <p:nvPr/>
        </p:nvSpPr>
        <p:spPr>
          <a:xfrm>
            <a:off x="714375" y="4590557"/>
            <a:ext cx="275748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Interactive Elements</a:t>
            </a:r>
            <a:endParaRPr lang="en-US" sz="885" dirty="0"/>
          </a:p>
        </p:txBody>
      </p:sp>
      <p:sp>
        <p:nvSpPr>
          <p:cNvPr id="46" name="Text 42"/>
          <p:cNvSpPr/>
          <p:nvPr/>
        </p:nvSpPr>
        <p:spPr>
          <a:xfrm>
            <a:off x="714375" y="4822729"/>
            <a:ext cx="27574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0E0E0"/>
                </a:solidFill>
              </a:rPr>
              <a:t>Borders, accents, and visual indicators</a:t>
            </a:r>
            <a:endParaRPr lang="en-US" sz="727" dirty="0"/>
          </a:p>
        </p:txBody>
      </p:sp>
      <p:sp>
        <p:nvSpPr>
          <p:cNvPr id="47" name="Text 43"/>
          <p:cNvSpPr/>
          <p:nvPr/>
        </p:nvSpPr>
        <p:spPr>
          <a:xfrm>
            <a:off x="714375" y="5044185"/>
            <a:ext cx="2757488"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22D3EE"/>
                </a:solidFill>
              </a:rPr>
              <a:t>border-left, box-shadow, opacity</a:t>
            </a:r>
            <a:endParaRPr lang="en-US" sz="67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Visual Design Principle</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Creating Visual Hierarchy Without Colour</a:t>
            </a:r>
            <a:endParaRPr lang="en-US" sz="2436" dirty="0"/>
          </a:p>
        </p:txBody>
      </p:sp>
      <p:sp>
        <p:nvSpPr>
          <p:cNvPr id="6" name="Text 2"/>
          <p:cNvSpPr/>
          <p:nvPr/>
        </p:nvSpPr>
        <p:spPr>
          <a:xfrm>
            <a:off x="735806" y="1356224"/>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Size Hierarchy</a:t>
            </a:r>
            <a:endParaRPr lang="en-US" sz="784" dirty="0"/>
          </a:p>
        </p:txBody>
      </p:sp>
      <p:sp>
        <p:nvSpPr>
          <p:cNvPr id="7" name="Text 3"/>
          <p:cNvSpPr/>
          <p:nvPr/>
        </p:nvSpPr>
        <p:spPr>
          <a:xfrm>
            <a:off x="735806" y="1625901"/>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Primary</a:t>
            </a:r>
            <a:endParaRPr lang="en-US" sz="584" dirty="0"/>
          </a:p>
        </p:txBody>
      </p:sp>
      <p:sp>
        <p:nvSpPr>
          <p:cNvPr id="8" name="Text 4"/>
          <p:cNvSpPr/>
          <p:nvPr/>
        </p:nvSpPr>
        <p:spPr>
          <a:xfrm>
            <a:off x="735806" y="1799137"/>
            <a:ext cx="1618227"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rPr>
              <a:t>48px</a:t>
            </a:r>
            <a:endParaRPr lang="en-US" sz="1602" dirty="0"/>
          </a:p>
        </p:txBody>
      </p:sp>
      <p:sp>
        <p:nvSpPr>
          <p:cNvPr id="9" name="Text 5"/>
          <p:cNvSpPr/>
          <p:nvPr/>
        </p:nvSpPr>
        <p:spPr>
          <a:xfrm>
            <a:off x="735806" y="2225976"/>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Secondary</a:t>
            </a:r>
            <a:endParaRPr lang="en-US" sz="584" dirty="0"/>
          </a:p>
        </p:txBody>
      </p:sp>
      <p:sp>
        <p:nvSpPr>
          <p:cNvPr id="10" name="Text 6"/>
          <p:cNvSpPr/>
          <p:nvPr/>
        </p:nvSpPr>
        <p:spPr>
          <a:xfrm>
            <a:off x="735806" y="2399212"/>
            <a:ext cx="1618227"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20px</a:t>
            </a:r>
            <a:endParaRPr lang="en-US" sz="885" dirty="0"/>
          </a:p>
        </p:txBody>
      </p:sp>
      <p:sp>
        <p:nvSpPr>
          <p:cNvPr id="11" name="Text 7"/>
          <p:cNvSpPr/>
          <p:nvPr/>
        </p:nvSpPr>
        <p:spPr>
          <a:xfrm>
            <a:off x="735806" y="2688534"/>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Tertiary</a:t>
            </a:r>
            <a:endParaRPr lang="en-US" sz="584" dirty="0"/>
          </a:p>
        </p:txBody>
      </p:sp>
      <p:sp>
        <p:nvSpPr>
          <p:cNvPr id="12" name="Text 8"/>
          <p:cNvSpPr/>
          <p:nvPr/>
        </p:nvSpPr>
        <p:spPr>
          <a:xfrm>
            <a:off x="735806" y="2861770"/>
            <a:ext cx="1618227"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16px</a:t>
            </a:r>
            <a:endParaRPr lang="en-US" sz="683" dirty="0"/>
          </a:p>
        </p:txBody>
      </p:sp>
      <p:sp>
        <p:nvSpPr>
          <p:cNvPr id="13" name="Text 9"/>
          <p:cNvSpPr/>
          <p:nvPr/>
        </p:nvSpPr>
        <p:spPr>
          <a:xfrm>
            <a:off x="735806" y="3111801"/>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Supporting</a:t>
            </a:r>
            <a:endParaRPr lang="en-US" sz="584" dirty="0"/>
          </a:p>
        </p:txBody>
      </p:sp>
      <p:sp>
        <p:nvSpPr>
          <p:cNvPr id="14" name="Text 10"/>
          <p:cNvSpPr/>
          <p:nvPr/>
        </p:nvSpPr>
        <p:spPr>
          <a:xfrm>
            <a:off x="735806" y="3285037"/>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FFFFFF"/>
                </a:solidFill>
              </a:rPr>
              <a:t>12px</a:t>
            </a:r>
            <a:endParaRPr lang="en-US" sz="584" dirty="0"/>
          </a:p>
        </p:txBody>
      </p:sp>
      <p:sp>
        <p:nvSpPr>
          <p:cNvPr id="15" name="Text 11"/>
          <p:cNvSpPr/>
          <p:nvPr/>
        </p:nvSpPr>
        <p:spPr>
          <a:xfrm>
            <a:off x="2689789" y="1356224"/>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Weight Hierarchy</a:t>
            </a:r>
            <a:endParaRPr lang="en-US" sz="784" dirty="0"/>
          </a:p>
        </p:txBody>
      </p:sp>
      <p:sp>
        <p:nvSpPr>
          <p:cNvPr id="16" name="Text 12"/>
          <p:cNvSpPr/>
          <p:nvPr/>
        </p:nvSpPr>
        <p:spPr>
          <a:xfrm>
            <a:off x="2689789" y="1625901"/>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Bold</a:t>
            </a:r>
            <a:endParaRPr lang="en-US" sz="584" dirty="0"/>
          </a:p>
        </p:txBody>
      </p:sp>
      <p:sp>
        <p:nvSpPr>
          <p:cNvPr id="17" name="Text 13"/>
          <p:cNvSpPr/>
          <p:nvPr/>
        </p:nvSpPr>
        <p:spPr>
          <a:xfrm>
            <a:off x="2689789" y="1799137"/>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700</a:t>
            </a:r>
            <a:endParaRPr lang="en-US" sz="784" dirty="0"/>
          </a:p>
        </p:txBody>
      </p:sp>
      <p:sp>
        <p:nvSpPr>
          <p:cNvPr id="18" name="Text 14"/>
          <p:cNvSpPr/>
          <p:nvPr/>
        </p:nvSpPr>
        <p:spPr>
          <a:xfrm>
            <a:off x="2689789" y="2068813"/>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Semi-bold</a:t>
            </a:r>
            <a:endParaRPr lang="en-US" sz="584" dirty="0"/>
          </a:p>
        </p:txBody>
      </p:sp>
      <p:sp>
        <p:nvSpPr>
          <p:cNvPr id="19" name="Text 15"/>
          <p:cNvSpPr/>
          <p:nvPr/>
        </p:nvSpPr>
        <p:spPr>
          <a:xfrm>
            <a:off x="2689789" y="2242049"/>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600</a:t>
            </a:r>
            <a:endParaRPr lang="en-US" sz="784" dirty="0"/>
          </a:p>
        </p:txBody>
      </p:sp>
      <p:sp>
        <p:nvSpPr>
          <p:cNvPr id="20" name="Text 16"/>
          <p:cNvSpPr/>
          <p:nvPr/>
        </p:nvSpPr>
        <p:spPr>
          <a:xfrm>
            <a:off x="2689789" y="2511726"/>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Regular</a:t>
            </a:r>
            <a:endParaRPr lang="en-US" sz="584" dirty="0"/>
          </a:p>
        </p:txBody>
      </p:sp>
      <p:sp>
        <p:nvSpPr>
          <p:cNvPr id="21" name="Text 17"/>
          <p:cNvSpPr/>
          <p:nvPr/>
        </p:nvSpPr>
        <p:spPr>
          <a:xfrm>
            <a:off x="2689789" y="2684962"/>
            <a:ext cx="1618227"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400</a:t>
            </a:r>
            <a:endParaRPr lang="en-US" sz="834" dirty="0"/>
          </a:p>
        </p:txBody>
      </p:sp>
      <p:sp>
        <p:nvSpPr>
          <p:cNvPr id="22" name="Text 18"/>
          <p:cNvSpPr/>
          <p:nvPr/>
        </p:nvSpPr>
        <p:spPr>
          <a:xfrm>
            <a:off x="2689789" y="2954638"/>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Light</a:t>
            </a:r>
            <a:endParaRPr lang="en-US" sz="584" dirty="0"/>
          </a:p>
        </p:txBody>
      </p:sp>
      <p:sp>
        <p:nvSpPr>
          <p:cNvPr id="23" name="Text 19"/>
          <p:cNvSpPr/>
          <p:nvPr/>
        </p:nvSpPr>
        <p:spPr>
          <a:xfrm>
            <a:off x="2689789" y="3127874"/>
            <a:ext cx="1618227"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300</a:t>
            </a:r>
            <a:endParaRPr lang="en-US" sz="834" dirty="0"/>
          </a:p>
        </p:txBody>
      </p:sp>
      <p:sp>
        <p:nvSpPr>
          <p:cNvPr id="24" name="Text 20"/>
          <p:cNvSpPr/>
          <p:nvPr/>
        </p:nvSpPr>
        <p:spPr>
          <a:xfrm>
            <a:off x="4643772" y="1356224"/>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Opacity Hierarchy</a:t>
            </a:r>
            <a:endParaRPr lang="en-US" sz="784" dirty="0"/>
          </a:p>
        </p:txBody>
      </p:sp>
      <p:sp>
        <p:nvSpPr>
          <p:cNvPr id="25" name="Text 21"/>
          <p:cNvSpPr/>
          <p:nvPr/>
        </p:nvSpPr>
        <p:spPr>
          <a:xfrm>
            <a:off x="4643772" y="1625901"/>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Primary</a:t>
            </a:r>
            <a:endParaRPr lang="en-US" sz="584" dirty="0"/>
          </a:p>
        </p:txBody>
      </p:sp>
      <p:sp>
        <p:nvSpPr>
          <p:cNvPr id="26" name="Text 22"/>
          <p:cNvSpPr/>
          <p:nvPr/>
        </p:nvSpPr>
        <p:spPr>
          <a:xfrm>
            <a:off x="4643772" y="1799137"/>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Full</a:t>
            </a:r>
            <a:endParaRPr lang="en-US" sz="784" dirty="0"/>
          </a:p>
        </p:txBody>
      </p:sp>
      <p:sp>
        <p:nvSpPr>
          <p:cNvPr id="27" name="Text 23"/>
          <p:cNvSpPr/>
          <p:nvPr/>
        </p:nvSpPr>
        <p:spPr>
          <a:xfrm>
            <a:off x="4643772" y="2068813"/>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Secondary</a:t>
            </a:r>
            <a:endParaRPr lang="en-US" sz="584" dirty="0"/>
          </a:p>
        </p:txBody>
      </p:sp>
      <p:sp>
        <p:nvSpPr>
          <p:cNvPr id="28" name="Text 24"/>
          <p:cNvSpPr/>
          <p:nvPr/>
        </p:nvSpPr>
        <p:spPr>
          <a:xfrm>
            <a:off x="4643772" y="2242049"/>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alpha val="70000"/>
                  </a:srgbClr>
                </a:solidFill>
              </a:rPr>
              <a:t>70%</a:t>
            </a:r>
            <a:endParaRPr lang="en-US" sz="784" dirty="0"/>
          </a:p>
        </p:txBody>
      </p:sp>
      <p:sp>
        <p:nvSpPr>
          <p:cNvPr id="29" name="Text 25"/>
          <p:cNvSpPr/>
          <p:nvPr/>
        </p:nvSpPr>
        <p:spPr>
          <a:xfrm>
            <a:off x="4643772" y="2511726"/>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Tertiary</a:t>
            </a:r>
            <a:endParaRPr lang="en-US" sz="584" dirty="0"/>
          </a:p>
        </p:txBody>
      </p:sp>
      <p:sp>
        <p:nvSpPr>
          <p:cNvPr id="30" name="Text 26"/>
          <p:cNvSpPr/>
          <p:nvPr/>
        </p:nvSpPr>
        <p:spPr>
          <a:xfrm>
            <a:off x="4643772" y="2684962"/>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alpha val="40000"/>
                  </a:srgbClr>
                </a:solidFill>
              </a:rPr>
              <a:t>40%</a:t>
            </a:r>
            <a:endParaRPr lang="en-US" sz="784" dirty="0"/>
          </a:p>
        </p:txBody>
      </p:sp>
      <p:sp>
        <p:nvSpPr>
          <p:cNvPr id="31" name="Text 27"/>
          <p:cNvSpPr/>
          <p:nvPr/>
        </p:nvSpPr>
        <p:spPr>
          <a:xfrm>
            <a:off x="4643772" y="2954638"/>
            <a:ext cx="161822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0E0E0"/>
                </a:solidFill>
              </a:rPr>
              <a:t>Background</a:t>
            </a:r>
            <a:endParaRPr lang="en-US" sz="584" dirty="0"/>
          </a:p>
        </p:txBody>
      </p:sp>
      <p:sp>
        <p:nvSpPr>
          <p:cNvPr id="32" name="Text 28"/>
          <p:cNvSpPr/>
          <p:nvPr/>
        </p:nvSpPr>
        <p:spPr>
          <a:xfrm>
            <a:off x="4643772" y="3127874"/>
            <a:ext cx="161822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alpha val="6000"/>
                  </a:srgbClr>
                </a:solidFill>
              </a:rPr>
              <a:t>6%</a:t>
            </a:r>
            <a:endParaRPr lang="en-US" sz="784" dirty="0"/>
          </a:p>
        </p:txBody>
      </p:sp>
      <p:sp>
        <p:nvSpPr>
          <p:cNvPr id="33" name="Shape 29"/>
          <p:cNvSpPr/>
          <p:nvPr/>
        </p:nvSpPr>
        <p:spPr>
          <a:xfrm>
            <a:off x="6433449" y="1356224"/>
            <a:ext cx="2139051" cy="3787276"/>
          </a:xfrm>
          <a:prstGeom prst="rect">
            <a:avLst/>
          </a:prstGeom>
          <a:solidFill>
            <a:srgbClr val="22D3EE">
              <a:alpha val="2000"/>
            </a:srgbClr>
          </a:solidFill>
          <a:ln w="18288">
            <a:solidFill>
              <a:srgbClr val="22D3EE"/>
            </a:solidFill>
            <a:prstDash val="solid"/>
          </a:ln>
        </p:spPr>
      </p:sp>
      <p:sp>
        <p:nvSpPr>
          <p:cNvPr id="34" name="Text 30"/>
          <p:cNvSpPr/>
          <p:nvPr/>
        </p:nvSpPr>
        <p:spPr>
          <a:xfrm>
            <a:off x="6604899" y="1527674"/>
            <a:ext cx="1796151" cy="819745"/>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FFFFFF"/>
                </a:solidFill>
              </a:rPr>
              <a:t>All Four Techniques Applied</a:t>
            </a:r>
            <a:endParaRPr lang="en-US" sz="1397" dirty="0"/>
          </a:p>
        </p:txBody>
      </p:sp>
      <p:sp>
        <p:nvSpPr>
          <p:cNvPr id="35" name="Text 31"/>
          <p:cNvSpPr/>
          <p:nvPr/>
        </p:nvSpPr>
        <p:spPr>
          <a:xfrm>
            <a:off x="6604899" y="2518870"/>
            <a:ext cx="1796151" cy="310753"/>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E0E0E0"/>
                </a:solidFill>
              </a:rPr>
              <a:t>This sample demonstrates combined hierarchy</a:t>
            </a:r>
            <a:endParaRPr lang="en-US" sz="784" dirty="0"/>
          </a:p>
        </p:txBody>
      </p:sp>
      <p:sp>
        <p:nvSpPr>
          <p:cNvPr id="36" name="Text 32"/>
          <p:cNvSpPr/>
          <p:nvPr/>
        </p:nvSpPr>
        <p:spPr>
          <a:xfrm>
            <a:off x="6604899" y="3058223"/>
            <a:ext cx="1796151"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0E0E0"/>
                </a:solidFill>
              </a:rPr>
              <a:t>Primary content with full size, weight, and opacity. This text guides the viewer's eye first.</a:t>
            </a:r>
            <a:endParaRPr lang="en-US" sz="727" dirty="0"/>
          </a:p>
        </p:txBody>
      </p:sp>
      <p:sp>
        <p:nvSpPr>
          <p:cNvPr id="37" name="Text 33"/>
          <p:cNvSpPr/>
          <p:nvPr/>
        </p:nvSpPr>
        <p:spPr>
          <a:xfrm>
            <a:off x="6604899" y="3679729"/>
            <a:ext cx="1796151" cy="417909"/>
          </a:xfrm>
          <a:prstGeom prst="rect">
            <a:avLst/>
          </a:prstGeom>
          <a:noFill/>
          <a:ln/>
        </p:spPr>
        <p:txBody>
          <a:bodyPr wrap="square" lIns="0" tIns="0" rIns="0" bIns="0" rtlCol="0" anchor="t">
            <a:spAutoFit/>
          </a:bodyPr>
          <a:lstStyle/>
          <a:p>
            <a:pPr algn="l" indent="0" marL="0">
              <a:lnSpc>
                <a:spcPts val="1100"/>
              </a:lnSpc>
              <a:buNone/>
            </a:pPr>
            <a:r>
              <a:rPr lang="en-US" sz="674" dirty="0">
                <a:solidFill>
                  <a:srgbClr val="E0E0E0">
                    <a:alpha val="70000"/>
                  </a:srgbClr>
                </a:solidFill>
              </a:rPr>
              <a:t>Secondary content with reduced size and opacity. This supports the primary message.</a:t>
            </a:r>
            <a:endParaRPr lang="en-US" sz="674" dirty="0"/>
          </a:p>
        </p:txBody>
      </p:sp>
      <p:sp>
        <p:nvSpPr>
          <p:cNvPr id="38" name="Text 34"/>
          <p:cNvSpPr/>
          <p:nvPr/>
        </p:nvSpPr>
        <p:spPr>
          <a:xfrm>
            <a:off x="6604899" y="4269088"/>
            <a:ext cx="1796151" cy="348258"/>
          </a:xfrm>
          <a:prstGeom prst="rect">
            <a:avLst/>
          </a:prstGeom>
          <a:noFill/>
          <a:ln/>
        </p:spPr>
        <p:txBody>
          <a:bodyPr wrap="square" lIns="0" tIns="0" rIns="0" bIns="0" rtlCol="0" anchor="t">
            <a:spAutoFit/>
          </a:bodyPr>
          <a:lstStyle/>
          <a:p>
            <a:pPr algn="l" indent="0" marL="0">
              <a:lnSpc>
                <a:spcPts val="800"/>
              </a:lnSpc>
              <a:buNone/>
            </a:pPr>
            <a:r>
              <a:rPr lang="en-US" sz="621" dirty="0">
                <a:solidFill>
                  <a:srgbClr val="E0E0E0">
                    <a:alpha val="60000"/>
                  </a:srgbClr>
                </a:solidFill>
              </a:rPr>
              <a:t>Supporting information with minimal visual weight. This provides context without distraction.</a:t>
            </a:r>
            <a:endParaRPr lang="en-US" sz="62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Layout Systems</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Grid &amp; Flexbox Mastery</a:t>
            </a:r>
            <a:endParaRPr lang="en-US" sz="2436" dirty="0"/>
          </a:p>
        </p:txBody>
      </p:sp>
      <p:sp>
        <p:nvSpPr>
          <p:cNvPr id="6" name="Text 2"/>
          <p:cNvSpPr/>
          <p:nvPr/>
        </p:nvSpPr>
        <p:spPr>
          <a:xfrm>
            <a:off x="571500" y="1241924"/>
            <a:ext cx="388620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22D3EE"/>
                </a:solidFill>
              </a:rPr>
              <a:t>CSS Grid</a:t>
            </a:r>
            <a:endParaRPr lang="en-US" sz="987" dirty="0"/>
          </a:p>
        </p:txBody>
      </p:sp>
      <p:sp>
        <p:nvSpPr>
          <p:cNvPr id="7" name="Text 3"/>
          <p:cNvSpPr/>
          <p:nvPr/>
        </p:nvSpPr>
        <p:spPr>
          <a:xfrm>
            <a:off x="678656" y="1593754"/>
            <a:ext cx="37790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2-Column Grid</a:t>
            </a:r>
            <a:endParaRPr lang="en-US" sz="784" dirty="0"/>
          </a:p>
        </p:txBody>
      </p:sp>
      <p:sp>
        <p:nvSpPr>
          <p:cNvPr id="8" name="Shape 4"/>
          <p:cNvSpPr/>
          <p:nvPr/>
        </p:nvSpPr>
        <p:spPr>
          <a:xfrm>
            <a:off x="678656" y="2263480"/>
            <a:ext cx="3779044" cy="205718"/>
          </a:xfrm>
          <a:prstGeom prst="rect">
            <a:avLst/>
          </a:prstGeom>
          <a:solidFill>
            <a:srgbClr val="22D3EE">
              <a:alpha val="5000"/>
            </a:srgbClr>
          </a:solidFill>
          <a:ln/>
        </p:spPr>
      </p:sp>
      <p:sp>
        <p:nvSpPr>
          <p:cNvPr id="9" name="Text 5"/>
          <p:cNvSpPr/>
          <p:nvPr/>
        </p:nvSpPr>
        <p:spPr>
          <a:xfrm>
            <a:off x="678656" y="2263480"/>
            <a:ext cx="3779044" cy="205718"/>
          </a:xfrm>
          <a:prstGeom prst="rect">
            <a:avLst/>
          </a:prstGeom>
          <a:noFill/>
          <a:ln/>
        </p:spPr>
        <p:txBody>
          <a:bodyPr wrap="square" lIns="85090" tIns="51054" rIns="85090" bIns="51054" rtlCol="0" anchor="t">
            <a:spAutoFit/>
          </a:bodyPr>
          <a:lstStyle/>
          <a:p>
            <a:pPr algn="l" indent="0" marL="0">
              <a:lnSpc>
                <a:spcPts val="900"/>
              </a:lnSpc>
              <a:buNone/>
            </a:pPr>
            <a:r>
              <a:rPr lang="en-US" sz="621" dirty="0">
                <a:solidFill>
                  <a:srgbClr val="22D3EE"/>
                </a:solidFill>
              </a:rPr>
              <a:t>grid-template-columns: 1fr 1fr;</a:t>
            </a:r>
            <a:endParaRPr lang="en-US" sz="621" dirty="0"/>
          </a:p>
        </p:txBody>
      </p:sp>
      <p:sp>
        <p:nvSpPr>
          <p:cNvPr id="10" name="Text 6"/>
          <p:cNvSpPr/>
          <p:nvPr/>
        </p:nvSpPr>
        <p:spPr>
          <a:xfrm>
            <a:off x="678656" y="2526348"/>
            <a:ext cx="37790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Equal-width columns for balanced layouts</a:t>
            </a:r>
            <a:endParaRPr lang="en-US" sz="674" dirty="0"/>
          </a:p>
        </p:txBody>
      </p:sp>
      <p:sp>
        <p:nvSpPr>
          <p:cNvPr id="11" name="Text 7"/>
          <p:cNvSpPr/>
          <p:nvPr/>
        </p:nvSpPr>
        <p:spPr>
          <a:xfrm>
            <a:off x="678656" y="2779951"/>
            <a:ext cx="37790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3-Column Grid</a:t>
            </a:r>
            <a:endParaRPr lang="en-US" sz="784" dirty="0"/>
          </a:p>
        </p:txBody>
      </p:sp>
      <p:sp>
        <p:nvSpPr>
          <p:cNvPr id="12" name="Shape 8"/>
          <p:cNvSpPr/>
          <p:nvPr/>
        </p:nvSpPr>
        <p:spPr>
          <a:xfrm>
            <a:off x="678656" y="3449678"/>
            <a:ext cx="3779044" cy="205718"/>
          </a:xfrm>
          <a:prstGeom prst="rect">
            <a:avLst/>
          </a:prstGeom>
          <a:solidFill>
            <a:srgbClr val="22D3EE">
              <a:alpha val="5000"/>
            </a:srgbClr>
          </a:solidFill>
          <a:ln/>
        </p:spPr>
      </p:sp>
      <p:sp>
        <p:nvSpPr>
          <p:cNvPr id="13" name="Text 9"/>
          <p:cNvSpPr/>
          <p:nvPr/>
        </p:nvSpPr>
        <p:spPr>
          <a:xfrm>
            <a:off x="678656" y="3449678"/>
            <a:ext cx="3779044" cy="205718"/>
          </a:xfrm>
          <a:prstGeom prst="rect">
            <a:avLst/>
          </a:prstGeom>
          <a:noFill/>
          <a:ln/>
        </p:spPr>
        <p:txBody>
          <a:bodyPr wrap="square" lIns="85090" tIns="51054" rIns="85090" bIns="51054" rtlCol="0" anchor="t">
            <a:spAutoFit/>
          </a:bodyPr>
          <a:lstStyle/>
          <a:p>
            <a:pPr algn="l" indent="0" marL="0">
              <a:lnSpc>
                <a:spcPts val="900"/>
              </a:lnSpc>
              <a:buNone/>
            </a:pPr>
            <a:r>
              <a:rPr lang="en-US" sz="621" dirty="0">
                <a:solidFill>
                  <a:srgbClr val="22D3EE"/>
                </a:solidFill>
              </a:rPr>
              <a:t>grid-template-columns: 1fr 1fr 1fr;</a:t>
            </a:r>
            <a:endParaRPr lang="en-US" sz="621" dirty="0"/>
          </a:p>
        </p:txBody>
      </p:sp>
      <p:sp>
        <p:nvSpPr>
          <p:cNvPr id="14" name="Text 10"/>
          <p:cNvSpPr/>
          <p:nvPr/>
        </p:nvSpPr>
        <p:spPr>
          <a:xfrm>
            <a:off x="678656" y="3712545"/>
            <a:ext cx="37790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Three parallel concepts with equal emphasis</a:t>
            </a:r>
            <a:endParaRPr lang="en-US" sz="674" dirty="0"/>
          </a:p>
        </p:txBody>
      </p:sp>
      <p:sp>
        <p:nvSpPr>
          <p:cNvPr id="15" name="Text 11"/>
          <p:cNvSpPr/>
          <p:nvPr/>
        </p:nvSpPr>
        <p:spPr>
          <a:xfrm>
            <a:off x="678656" y="3966149"/>
            <a:ext cx="37790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Asymmetric Grid</a:t>
            </a:r>
            <a:endParaRPr lang="en-US" sz="784" dirty="0"/>
          </a:p>
        </p:txBody>
      </p:sp>
      <p:sp>
        <p:nvSpPr>
          <p:cNvPr id="16" name="Shape 12"/>
          <p:cNvSpPr/>
          <p:nvPr/>
        </p:nvSpPr>
        <p:spPr>
          <a:xfrm>
            <a:off x="678656" y="4635875"/>
            <a:ext cx="3779044" cy="205718"/>
          </a:xfrm>
          <a:prstGeom prst="rect">
            <a:avLst/>
          </a:prstGeom>
          <a:solidFill>
            <a:srgbClr val="22D3EE">
              <a:alpha val="5000"/>
            </a:srgbClr>
          </a:solidFill>
          <a:ln/>
        </p:spPr>
      </p:sp>
      <p:sp>
        <p:nvSpPr>
          <p:cNvPr id="17" name="Text 13"/>
          <p:cNvSpPr/>
          <p:nvPr/>
        </p:nvSpPr>
        <p:spPr>
          <a:xfrm>
            <a:off x="678656" y="4635875"/>
            <a:ext cx="3779044" cy="205718"/>
          </a:xfrm>
          <a:prstGeom prst="rect">
            <a:avLst/>
          </a:prstGeom>
          <a:noFill/>
          <a:ln/>
        </p:spPr>
        <p:txBody>
          <a:bodyPr wrap="square" lIns="85090" tIns="51054" rIns="85090" bIns="51054" rtlCol="0" anchor="t">
            <a:spAutoFit/>
          </a:bodyPr>
          <a:lstStyle/>
          <a:p>
            <a:pPr algn="l" indent="0" marL="0">
              <a:lnSpc>
                <a:spcPts val="900"/>
              </a:lnSpc>
              <a:buNone/>
            </a:pPr>
            <a:r>
              <a:rPr lang="en-US" sz="621" dirty="0">
                <a:solidFill>
                  <a:srgbClr val="22D3EE"/>
                </a:solidFill>
              </a:rPr>
              <a:t>grid-template-columns: 1fr 2fr;</a:t>
            </a:r>
            <a:endParaRPr lang="en-US" sz="621" dirty="0"/>
          </a:p>
        </p:txBody>
      </p:sp>
      <p:sp>
        <p:nvSpPr>
          <p:cNvPr id="18" name="Text 14"/>
          <p:cNvSpPr/>
          <p:nvPr/>
        </p:nvSpPr>
        <p:spPr>
          <a:xfrm>
            <a:off x="678656" y="4898743"/>
            <a:ext cx="37790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Unequal columns for visual interest</a:t>
            </a:r>
            <a:endParaRPr lang="en-US" sz="674" dirty="0"/>
          </a:p>
        </p:txBody>
      </p:sp>
      <p:sp>
        <p:nvSpPr>
          <p:cNvPr id="19" name="Text 15"/>
          <p:cNvSpPr/>
          <p:nvPr/>
        </p:nvSpPr>
        <p:spPr>
          <a:xfrm>
            <a:off x="4686300" y="1241924"/>
            <a:ext cx="388620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22D3EE"/>
                </a:solidFill>
              </a:rPr>
              <a:t>Flexbox</a:t>
            </a:r>
            <a:endParaRPr lang="en-US" sz="987" dirty="0"/>
          </a:p>
        </p:txBody>
      </p:sp>
      <p:sp>
        <p:nvSpPr>
          <p:cNvPr id="20" name="Text 16"/>
          <p:cNvSpPr/>
          <p:nvPr/>
        </p:nvSpPr>
        <p:spPr>
          <a:xfrm>
            <a:off x="4793456" y="1593754"/>
            <a:ext cx="37790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Vertical List</a:t>
            </a:r>
            <a:endParaRPr lang="en-US" sz="784" dirty="0"/>
          </a:p>
        </p:txBody>
      </p:sp>
      <p:sp>
        <p:nvSpPr>
          <p:cNvPr id="21" name="Shape 17"/>
          <p:cNvSpPr/>
          <p:nvPr/>
        </p:nvSpPr>
        <p:spPr>
          <a:xfrm>
            <a:off x="4793456" y="2263480"/>
            <a:ext cx="3779044" cy="205718"/>
          </a:xfrm>
          <a:prstGeom prst="rect">
            <a:avLst/>
          </a:prstGeom>
          <a:solidFill>
            <a:srgbClr val="22D3EE">
              <a:alpha val="5000"/>
            </a:srgbClr>
          </a:solidFill>
          <a:ln/>
        </p:spPr>
      </p:sp>
      <p:sp>
        <p:nvSpPr>
          <p:cNvPr id="22" name="Text 18"/>
          <p:cNvSpPr/>
          <p:nvPr/>
        </p:nvSpPr>
        <p:spPr>
          <a:xfrm>
            <a:off x="4793456" y="2263480"/>
            <a:ext cx="3779044" cy="205718"/>
          </a:xfrm>
          <a:prstGeom prst="rect">
            <a:avLst/>
          </a:prstGeom>
          <a:noFill/>
          <a:ln/>
        </p:spPr>
        <p:txBody>
          <a:bodyPr wrap="square" lIns="85090" tIns="51054" rIns="85090" bIns="51054" rtlCol="0" anchor="t">
            <a:spAutoFit/>
          </a:bodyPr>
          <a:lstStyle/>
          <a:p>
            <a:pPr algn="l" indent="0" marL="0">
              <a:lnSpc>
                <a:spcPts val="900"/>
              </a:lnSpc>
              <a:buNone/>
            </a:pPr>
            <a:r>
              <a:rPr lang="en-US" sz="621" dirty="0">
                <a:solidFill>
                  <a:srgbClr val="22D3EE"/>
                </a:solidFill>
              </a:rPr>
              <a:t>flex-direction: column; gap: 12px;</a:t>
            </a:r>
            <a:endParaRPr lang="en-US" sz="621" dirty="0"/>
          </a:p>
        </p:txBody>
      </p:sp>
      <p:sp>
        <p:nvSpPr>
          <p:cNvPr id="23" name="Text 19"/>
          <p:cNvSpPr/>
          <p:nvPr/>
        </p:nvSpPr>
        <p:spPr>
          <a:xfrm>
            <a:off x="4793456" y="2526348"/>
            <a:ext cx="37790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Sequential items stacked vertically</a:t>
            </a:r>
            <a:endParaRPr lang="en-US" sz="674" dirty="0"/>
          </a:p>
        </p:txBody>
      </p:sp>
      <p:sp>
        <p:nvSpPr>
          <p:cNvPr id="24" name="Text 20"/>
          <p:cNvSpPr/>
          <p:nvPr/>
        </p:nvSpPr>
        <p:spPr>
          <a:xfrm>
            <a:off x="4793456" y="2779951"/>
            <a:ext cx="37790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Horizontal List</a:t>
            </a:r>
            <a:endParaRPr lang="en-US" sz="784" dirty="0"/>
          </a:p>
        </p:txBody>
      </p:sp>
      <p:sp>
        <p:nvSpPr>
          <p:cNvPr id="25" name="Shape 21"/>
          <p:cNvSpPr/>
          <p:nvPr/>
        </p:nvSpPr>
        <p:spPr>
          <a:xfrm>
            <a:off x="4793456" y="3449678"/>
            <a:ext cx="3779044" cy="205718"/>
          </a:xfrm>
          <a:prstGeom prst="rect">
            <a:avLst/>
          </a:prstGeom>
          <a:solidFill>
            <a:srgbClr val="22D3EE">
              <a:alpha val="5000"/>
            </a:srgbClr>
          </a:solidFill>
          <a:ln/>
        </p:spPr>
      </p:sp>
      <p:sp>
        <p:nvSpPr>
          <p:cNvPr id="26" name="Text 22"/>
          <p:cNvSpPr/>
          <p:nvPr/>
        </p:nvSpPr>
        <p:spPr>
          <a:xfrm>
            <a:off x="4793456" y="3449678"/>
            <a:ext cx="3779044" cy="205718"/>
          </a:xfrm>
          <a:prstGeom prst="rect">
            <a:avLst/>
          </a:prstGeom>
          <a:noFill/>
          <a:ln/>
        </p:spPr>
        <p:txBody>
          <a:bodyPr wrap="square" lIns="85090" tIns="51054" rIns="85090" bIns="51054" rtlCol="0" anchor="t">
            <a:spAutoFit/>
          </a:bodyPr>
          <a:lstStyle/>
          <a:p>
            <a:pPr algn="l" indent="0" marL="0">
              <a:lnSpc>
                <a:spcPts val="900"/>
              </a:lnSpc>
              <a:buNone/>
            </a:pPr>
            <a:r>
              <a:rPr lang="en-US" sz="621" dirty="0">
                <a:solidFill>
                  <a:srgbClr val="22D3EE"/>
                </a:solidFill>
              </a:rPr>
              <a:t>flex-direction: row; gap: 12px;</a:t>
            </a:r>
            <a:endParaRPr lang="en-US" sz="621" dirty="0"/>
          </a:p>
        </p:txBody>
      </p:sp>
      <p:sp>
        <p:nvSpPr>
          <p:cNvPr id="27" name="Text 23"/>
          <p:cNvSpPr/>
          <p:nvPr/>
        </p:nvSpPr>
        <p:spPr>
          <a:xfrm>
            <a:off x="4793456" y="3712545"/>
            <a:ext cx="37790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Items arranged horizontally with equal spacing</a:t>
            </a:r>
            <a:endParaRPr lang="en-US" sz="674" dirty="0"/>
          </a:p>
        </p:txBody>
      </p:sp>
      <p:sp>
        <p:nvSpPr>
          <p:cNvPr id="28" name="Text 24"/>
          <p:cNvSpPr/>
          <p:nvPr/>
        </p:nvSpPr>
        <p:spPr>
          <a:xfrm>
            <a:off x="4793456" y="3966149"/>
            <a:ext cx="37790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Centred Flex</a:t>
            </a:r>
            <a:endParaRPr lang="en-US" sz="784" dirty="0"/>
          </a:p>
        </p:txBody>
      </p:sp>
      <p:sp>
        <p:nvSpPr>
          <p:cNvPr id="29" name="Shape 25"/>
          <p:cNvSpPr/>
          <p:nvPr/>
        </p:nvSpPr>
        <p:spPr>
          <a:xfrm>
            <a:off x="4793456" y="4635875"/>
            <a:ext cx="3779044" cy="205718"/>
          </a:xfrm>
          <a:prstGeom prst="rect">
            <a:avLst/>
          </a:prstGeom>
          <a:solidFill>
            <a:srgbClr val="22D3EE">
              <a:alpha val="5000"/>
            </a:srgbClr>
          </a:solidFill>
          <a:ln/>
        </p:spPr>
      </p:sp>
      <p:sp>
        <p:nvSpPr>
          <p:cNvPr id="30" name="Text 26"/>
          <p:cNvSpPr/>
          <p:nvPr/>
        </p:nvSpPr>
        <p:spPr>
          <a:xfrm>
            <a:off x="4793456" y="4635875"/>
            <a:ext cx="3779044" cy="205718"/>
          </a:xfrm>
          <a:prstGeom prst="rect">
            <a:avLst/>
          </a:prstGeom>
          <a:noFill/>
          <a:ln/>
        </p:spPr>
        <p:txBody>
          <a:bodyPr wrap="square" lIns="85090" tIns="51054" rIns="85090" bIns="51054" rtlCol="0" anchor="t">
            <a:spAutoFit/>
          </a:bodyPr>
          <a:lstStyle/>
          <a:p>
            <a:pPr algn="l" indent="0" marL="0">
              <a:lnSpc>
                <a:spcPts val="900"/>
              </a:lnSpc>
              <a:buNone/>
            </a:pPr>
            <a:r>
              <a:rPr lang="en-US" sz="621" dirty="0">
                <a:solidFill>
                  <a:srgbClr val="22D3EE"/>
                </a:solidFill>
              </a:rPr>
              <a:t>justify-content: center; align-items: center;</a:t>
            </a:r>
            <a:endParaRPr lang="en-US" sz="621" dirty="0"/>
          </a:p>
        </p:txBody>
      </p:sp>
      <p:sp>
        <p:nvSpPr>
          <p:cNvPr id="31" name="Text 27"/>
          <p:cNvSpPr/>
          <p:nvPr/>
        </p:nvSpPr>
        <p:spPr>
          <a:xfrm>
            <a:off x="4793456" y="4898743"/>
            <a:ext cx="37790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Centred content with flexible spacing</a:t>
            </a:r>
            <a:endParaRPr lang="en-US" sz="67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37736"/>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Visual Enhancement</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Gradients for Visual Interest</a:t>
            </a:r>
            <a:endParaRPr lang="en-US" sz="2436" dirty="0"/>
          </a:p>
        </p:txBody>
      </p:sp>
      <p:sp>
        <p:nvSpPr>
          <p:cNvPr id="6" name="Text 2"/>
          <p:cNvSpPr/>
          <p:nvPr/>
        </p:nvSpPr>
        <p:spPr>
          <a:xfrm>
            <a:off x="571500" y="3927974"/>
            <a:ext cx="3829050" cy="500063"/>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8B5CF6"/>
                </a:solidFill>
              </a:rPr>
              <a:t>Gradient Text</a:t>
            </a:r>
            <a:endParaRPr lang="en-US" sz="1397" dirty="0"/>
          </a:p>
        </p:txBody>
      </p:sp>
      <p:sp>
        <p:nvSpPr>
          <p:cNvPr id="7" name="Text 3"/>
          <p:cNvSpPr/>
          <p:nvPr/>
        </p:nvSpPr>
        <p:spPr>
          <a:xfrm>
            <a:off x="571500" y="4570912"/>
            <a:ext cx="3829050" cy="500063"/>
          </a:xfrm>
          <a:prstGeom prst="rect">
            <a:avLst/>
          </a:prstGeom>
          <a:noFill/>
          <a:ln/>
        </p:spPr>
        <p:txBody>
          <a:bodyPr wrap="square" lIns="170053" tIns="0" rIns="0" bIns="0" rtlCol="0" anchor="t">
            <a:spAutoFit/>
          </a:bodyPr>
          <a:lstStyle/>
          <a:p>
            <a:pPr algn="l" indent="0" marL="0">
              <a:lnSpc>
                <a:spcPts val="1100"/>
              </a:lnSpc>
              <a:buNone/>
            </a:pPr>
            <a:r>
              <a:rPr lang="en-US" sz="834" dirty="0">
                <a:solidFill>
                  <a:srgbClr val="E0E0E0"/>
                </a:solidFill>
              </a:rPr>
              <a:t>Gradient Border</a:t>
            </a:r>
            <a:endParaRPr lang="en-US" sz="834" dirty="0"/>
          </a:p>
        </p:txBody>
      </p:sp>
      <p:sp>
        <p:nvSpPr>
          <p:cNvPr id="8" name="Text 4"/>
          <p:cNvSpPr/>
          <p:nvPr/>
        </p:nvSpPr>
        <p:spPr>
          <a:xfrm>
            <a:off x="4907756" y="1356224"/>
            <a:ext cx="36647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Linear Gradients</a:t>
            </a:r>
            <a:endParaRPr lang="en-US" sz="784" dirty="0"/>
          </a:p>
        </p:txBody>
      </p:sp>
      <p:sp>
        <p:nvSpPr>
          <p:cNvPr id="9" name="Text 5"/>
          <p:cNvSpPr/>
          <p:nvPr/>
        </p:nvSpPr>
        <p:spPr>
          <a:xfrm>
            <a:off x="4907756" y="1568751"/>
            <a:ext cx="36647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Horizontal (90deg), vertical (180deg), or diagonal (135deg) colour transitions</a:t>
            </a:r>
            <a:endParaRPr lang="en-US" sz="674" dirty="0"/>
          </a:p>
        </p:txBody>
      </p:sp>
      <p:sp>
        <p:nvSpPr>
          <p:cNvPr id="10" name="Shape 6"/>
          <p:cNvSpPr/>
          <p:nvPr/>
        </p:nvSpPr>
        <p:spPr>
          <a:xfrm>
            <a:off x="4907756" y="1822354"/>
            <a:ext cx="3664744" cy="224303"/>
          </a:xfrm>
          <a:prstGeom prst="rect">
            <a:avLst/>
          </a:prstGeom>
          <a:solidFill>
            <a:srgbClr val="22D3EE">
              <a:alpha val="5000"/>
            </a:srgbClr>
          </a:solidFill>
          <a:ln/>
        </p:spPr>
      </p:sp>
      <p:sp>
        <p:nvSpPr>
          <p:cNvPr id="11" name="Shape 7"/>
          <p:cNvSpPr/>
          <p:nvPr/>
        </p:nvSpPr>
        <p:spPr>
          <a:xfrm>
            <a:off x="4907756" y="1822354"/>
            <a:ext cx="14288" cy="224303"/>
          </a:xfrm>
          <a:prstGeom prst="rect">
            <a:avLst/>
          </a:prstGeom>
          <a:solidFill>
            <a:srgbClr val="22D3EE"/>
          </a:solidFill>
          <a:ln/>
        </p:spPr>
      </p:sp>
      <p:sp>
        <p:nvSpPr>
          <p:cNvPr id="12" name="Text 8"/>
          <p:cNvSpPr/>
          <p:nvPr/>
        </p:nvSpPr>
        <p:spPr>
          <a:xfrm>
            <a:off x="4907756" y="1822354"/>
            <a:ext cx="3664744" cy="224303"/>
          </a:xfrm>
          <a:prstGeom prst="rect">
            <a:avLst/>
          </a:prstGeom>
          <a:noFill/>
          <a:ln/>
        </p:spPr>
        <p:txBody>
          <a:bodyPr wrap="square" lIns="102108" tIns="68072" rIns="102108" bIns="68072" rtlCol="0" anchor="t">
            <a:spAutoFit/>
          </a:bodyPr>
          <a:lstStyle/>
          <a:p>
            <a:pPr algn="l" indent="0" marL="0">
              <a:lnSpc>
                <a:spcPts val="900"/>
              </a:lnSpc>
              <a:buNone/>
            </a:pPr>
            <a:r>
              <a:rPr lang="en-US" sz="568" dirty="0">
                <a:solidFill>
                  <a:srgbClr val="22D3EE"/>
                </a:solidFill>
              </a:rPr>
              <a:t>background: linear-gradient(90deg, #22D3EE 0%, #8B5CF6 100%)</a:t>
            </a:r>
            <a:endParaRPr lang="en-US" sz="568" dirty="0"/>
          </a:p>
        </p:txBody>
      </p:sp>
      <p:sp>
        <p:nvSpPr>
          <p:cNvPr id="13" name="Text 9"/>
          <p:cNvSpPr/>
          <p:nvPr/>
        </p:nvSpPr>
        <p:spPr>
          <a:xfrm>
            <a:off x="4907756" y="2189531"/>
            <a:ext cx="36647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Multi-stop Gradients</a:t>
            </a:r>
            <a:endParaRPr lang="en-US" sz="784" dirty="0"/>
          </a:p>
        </p:txBody>
      </p:sp>
      <p:sp>
        <p:nvSpPr>
          <p:cNvPr id="14" name="Text 10"/>
          <p:cNvSpPr/>
          <p:nvPr/>
        </p:nvSpPr>
        <p:spPr>
          <a:xfrm>
            <a:off x="4907756" y="2402058"/>
            <a:ext cx="36647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Three or more colours for complex, sophisticated effects</a:t>
            </a:r>
            <a:endParaRPr lang="en-US" sz="674" dirty="0"/>
          </a:p>
        </p:txBody>
      </p:sp>
      <p:sp>
        <p:nvSpPr>
          <p:cNvPr id="15" name="Shape 11"/>
          <p:cNvSpPr/>
          <p:nvPr/>
        </p:nvSpPr>
        <p:spPr>
          <a:xfrm>
            <a:off x="4907756" y="2655661"/>
            <a:ext cx="3664744" cy="224303"/>
          </a:xfrm>
          <a:prstGeom prst="rect">
            <a:avLst/>
          </a:prstGeom>
          <a:solidFill>
            <a:srgbClr val="22D3EE">
              <a:alpha val="5000"/>
            </a:srgbClr>
          </a:solidFill>
          <a:ln/>
        </p:spPr>
      </p:sp>
      <p:sp>
        <p:nvSpPr>
          <p:cNvPr id="16" name="Shape 12"/>
          <p:cNvSpPr/>
          <p:nvPr/>
        </p:nvSpPr>
        <p:spPr>
          <a:xfrm>
            <a:off x="4907756" y="2655661"/>
            <a:ext cx="14288" cy="224303"/>
          </a:xfrm>
          <a:prstGeom prst="rect">
            <a:avLst/>
          </a:prstGeom>
          <a:solidFill>
            <a:srgbClr val="22D3EE"/>
          </a:solidFill>
          <a:ln/>
        </p:spPr>
      </p:sp>
      <p:sp>
        <p:nvSpPr>
          <p:cNvPr id="17" name="Text 13"/>
          <p:cNvSpPr/>
          <p:nvPr/>
        </p:nvSpPr>
        <p:spPr>
          <a:xfrm>
            <a:off x="4907756" y="2655661"/>
            <a:ext cx="3664744" cy="224303"/>
          </a:xfrm>
          <a:prstGeom prst="rect">
            <a:avLst/>
          </a:prstGeom>
          <a:noFill/>
          <a:ln/>
        </p:spPr>
        <p:txBody>
          <a:bodyPr wrap="square" lIns="102108" tIns="68072" rIns="102108" bIns="68072" rtlCol="0" anchor="t">
            <a:spAutoFit/>
          </a:bodyPr>
          <a:lstStyle/>
          <a:p>
            <a:pPr algn="l" indent="0" marL="0">
              <a:lnSpc>
                <a:spcPts val="900"/>
              </a:lnSpc>
              <a:buNone/>
            </a:pPr>
            <a:r>
              <a:rPr lang="en-US" sz="568" dirty="0">
                <a:solidFill>
                  <a:srgbClr val="22D3EE"/>
                </a:solidFill>
              </a:rPr>
              <a:t>background: linear-gradient(90deg, #22D3EE 0%, #8B5CF6 50%, #EC4899 100%)</a:t>
            </a:r>
            <a:endParaRPr lang="en-US" sz="568" dirty="0"/>
          </a:p>
        </p:txBody>
      </p:sp>
      <p:sp>
        <p:nvSpPr>
          <p:cNvPr id="18" name="Text 14"/>
          <p:cNvSpPr/>
          <p:nvPr/>
        </p:nvSpPr>
        <p:spPr>
          <a:xfrm>
            <a:off x="4907756" y="3022839"/>
            <a:ext cx="36647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Gradient Text</a:t>
            </a:r>
            <a:endParaRPr lang="en-US" sz="784" dirty="0"/>
          </a:p>
        </p:txBody>
      </p:sp>
      <p:sp>
        <p:nvSpPr>
          <p:cNvPr id="19" name="Text 15"/>
          <p:cNvSpPr/>
          <p:nvPr/>
        </p:nvSpPr>
        <p:spPr>
          <a:xfrm>
            <a:off x="4907756" y="3235365"/>
            <a:ext cx="36647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Apply gradients directly to text using background-clip property</a:t>
            </a:r>
            <a:endParaRPr lang="en-US" sz="674" dirty="0"/>
          </a:p>
        </p:txBody>
      </p:sp>
      <p:sp>
        <p:nvSpPr>
          <p:cNvPr id="20" name="Shape 16"/>
          <p:cNvSpPr/>
          <p:nvPr/>
        </p:nvSpPr>
        <p:spPr>
          <a:xfrm>
            <a:off x="4907756" y="3488968"/>
            <a:ext cx="3664744" cy="224303"/>
          </a:xfrm>
          <a:prstGeom prst="rect">
            <a:avLst/>
          </a:prstGeom>
          <a:solidFill>
            <a:srgbClr val="22D3EE">
              <a:alpha val="5000"/>
            </a:srgbClr>
          </a:solidFill>
          <a:ln/>
        </p:spPr>
      </p:sp>
      <p:sp>
        <p:nvSpPr>
          <p:cNvPr id="21" name="Shape 17"/>
          <p:cNvSpPr/>
          <p:nvPr/>
        </p:nvSpPr>
        <p:spPr>
          <a:xfrm>
            <a:off x="4907756" y="3488968"/>
            <a:ext cx="14288" cy="224303"/>
          </a:xfrm>
          <a:prstGeom prst="rect">
            <a:avLst/>
          </a:prstGeom>
          <a:solidFill>
            <a:srgbClr val="22D3EE"/>
          </a:solidFill>
          <a:ln/>
        </p:spPr>
      </p:sp>
      <p:sp>
        <p:nvSpPr>
          <p:cNvPr id="22" name="Text 18"/>
          <p:cNvSpPr/>
          <p:nvPr/>
        </p:nvSpPr>
        <p:spPr>
          <a:xfrm>
            <a:off x="4907756" y="3488968"/>
            <a:ext cx="3664744" cy="224303"/>
          </a:xfrm>
          <a:prstGeom prst="rect">
            <a:avLst/>
          </a:prstGeom>
          <a:noFill/>
          <a:ln/>
        </p:spPr>
        <p:txBody>
          <a:bodyPr wrap="square" lIns="102108" tIns="68072" rIns="102108" bIns="68072" rtlCol="0" anchor="t">
            <a:spAutoFit/>
          </a:bodyPr>
          <a:lstStyle/>
          <a:p>
            <a:pPr algn="l" indent="0" marL="0">
              <a:lnSpc>
                <a:spcPts val="900"/>
              </a:lnSpc>
              <a:buNone/>
            </a:pPr>
            <a:r>
              <a:rPr lang="en-US" sz="568" dirty="0">
                <a:solidFill>
                  <a:srgbClr val="22D3EE"/>
                </a:solidFill>
              </a:rPr>
              <a:t>background-clip: text; -webkit-text-fill-color: transparent</a:t>
            </a:r>
            <a:endParaRPr lang="en-US" sz="568" dirty="0"/>
          </a:p>
        </p:txBody>
      </p:sp>
      <p:sp>
        <p:nvSpPr>
          <p:cNvPr id="23" name="Text 19"/>
          <p:cNvSpPr/>
          <p:nvPr/>
        </p:nvSpPr>
        <p:spPr>
          <a:xfrm>
            <a:off x="4907756" y="3856146"/>
            <a:ext cx="36647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Gradient Borders</a:t>
            </a:r>
            <a:endParaRPr lang="en-US" sz="784" dirty="0"/>
          </a:p>
        </p:txBody>
      </p:sp>
      <p:sp>
        <p:nvSpPr>
          <p:cNvPr id="24" name="Text 20"/>
          <p:cNvSpPr/>
          <p:nvPr/>
        </p:nvSpPr>
        <p:spPr>
          <a:xfrm>
            <a:off x="4907756" y="4068673"/>
            <a:ext cx="3664744"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E0E0E0"/>
                </a:solidFill>
              </a:rPr>
              <a:t>Create accent lines and borders with gradient effects</a:t>
            </a:r>
            <a:endParaRPr lang="en-US" sz="674" dirty="0"/>
          </a:p>
        </p:txBody>
      </p:sp>
      <p:sp>
        <p:nvSpPr>
          <p:cNvPr id="25" name="Shape 21"/>
          <p:cNvSpPr/>
          <p:nvPr/>
        </p:nvSpPr>
        <p:spPr>
          <a:xfrm>
            <a:off x="4907756" y="4322276"/>
            <a:ext cx="3664744" cy="224303"/>
          </a:xfrm>
          <a:prstGeom prst="rect">
            <a:avLst/>
          </a:prstGeom>
          <a:solidFill>
            <a:srgbClr val="22D3EE">
              <a:alpha val="5000"/>
            </a:srgbClr>
          </a:solidFill>
          <a:ln/>
        </p:spPr>
      </p:sp>
      <p:sp>
        <p:nvSpPr>
          <p:cNvPr id="26" name="Shape 22"/>
          <p:cNvSpPr/>
          <p:nvPr/>
        </p:nvSpPr>
        <p:spPr>
          <a:xfrm>
            <a:off x="4907756" y="4322276"/>
            <a:ext cx="14288" cy="224303"/>
          </a:xfrm>
          <a:prstGeom prst="rect">
            <a:avLst/>
          </a:prstGeom>
          <a:solidFill>
            <a:srgbClr val="22D3EE"/>
          </a:solidFill>
          <a:ln/>
        </p:spPr>
      </p:sp>
      <p:sp>
        <p:nvSpPr>
          <p:cNvPr id="27" name="Text 23"/>
          <p:cNvSpPr/>
          <p:nvPr/>
        </p:nvSpPr>
        <p:spPr>
          <a:xfrm>
            <a:off x="4907756" y="4322276"/>
            <a:ext cx="3664744" cy="224303"/>
          </a:xfrm>
          <a:prstGeom prst="rect">
            <a:avLst/>
          </a:prstGeom>
          <a:noFill/>
          <a:ln/>
        </p:spPr>
        <p:txBody>
          <a:bodyPr wrap="square" lIns="102108" tIns="68072" rIns="102108" bIns="68072" rtlCol="0" anchor="t">
            <a:spAutoFit/>
          </a:bodyPr>
          <a:lstStyle/>
          <a:p>
            <a:pPr algn="l" indent="0" marL="0">
              <a:lnSpc>
                <a:spcPts val="900"/>
              </a:lnSpc>
              <a:buNone/>
            </a:pPr>
            <a:r>
              <a:rPr lang="en-US" sz="568" dirty="0">
                <a:solidFill>
                  <a:srgbClr val="22D3EE"/>
                </a:solidFill>
              </a:rPr>
              <a:t>border-image: linear-gradient(180deg, #22D3EE 0%, #8B5CF6 100%)</a:t>
            </a:r>
            <a:endParaRPr lang="en-US" sz="568" dirty="0"/>
          </a:p>
        </p:txBody>
      </p:sp>
      <p:sp>
        <p:nvSpPr>
          <p:cNvPr id="28" name="Text 24"/>
          <p:cNvSpPr/>
          <p:nvPr/>
        </p:nvSpPr>
        <p:spPr>
          <a:xfrm>
            <a:off x="4907756" y="4689453"/>
            <a:ext cx="366474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Application</a:t>
            </a:r>
            <a:endParaRPr lang="en-US" sz="784" dirty="0"/>
          </a:p>
        </p:txBody>
      </p:sp>
      <p:sp>
        <p:nvSpPr>
          <p:cNvPr id="29" name="Text 25"/>
          <p:cNvSpPr/>
          <p:nvPr/>
        </p:nvSpPr>
        <p:spPr>
          <a:xfrm>
            <a:off x="4907756" y="4901980"/>
            <a:ext cx="3664744" cy="278606"/>
          </a:xfrm>
          <a:prstGeom prst="rect">
            <a:avLst/>
          </a:prstGeom>
          <a:noFill/>
          <a:ln/>
        </p:spPr>
        <p:txBody>
          <a:bodyPr wrap="square" lIns="0" tIns="0" rIns="0" bIns="0" rtlCol="0" anchor="t">
            <a:spAutoFit/>
          </a:bodyPr>
          <a:lstStyle/>
          <a:p>
            <a:pPr algn="l" indent="0" marL="0">
              <a:lnSpc>
                <a:spcPts val="1100"/>
              </a:lnSpc>
              <a:buNone/>
            </a:pPr>
            <a:r>
              <a:rPr lang="en-US" sz="674" dirty="0">
                <a:solidFill>
                  <a:srgbClr val="E0E0E0"/>
                </a:solidFill>
              </a:rPr>
              <a:t>Use gradients on numbered markers, accent lines, and background elements to add depth and visual interest without images</a:t>
            </a:r>
            <a:endParaRPr lang="en-US" sz="67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HTML Optimisation</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Pseudo-Elements for Decoration</a:t>
            </a:r>
            <a:endParaRPr lang="en-US" sz="2436" dirty="0"/>
          </a:p>
        </p:txBody>
      </p:sp>
      <p:sp>
        <p:nvSpPr>
          <p:cNvPr id="6" name="Text 2"/>
          <p:cNvSpPr/>
          <p:nvPr/>
        </p:nvSpPr>
        <p:spPr>
          <a:xfrm>
            <a:off x="707231" y="1356224"/>
            <a:ext cx="2416959"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2D3EE"/>
                </a:solidFill>
              </a:rPr>
              <a:t>Accent Line</a:t>
            </a:r>
            <a:endParaRPr lang="en-US" sz="683" dirty="0"/>
          </a:p>
        </p:txBody>
      </p:sp>
      <p:sp>
        <p:nvSpPr>
          <p:cNvPr id="7" name="Shape 3"/>
          <p:cNvSpPr/>
          <p:nvPr/>
        </p:nvSpPr>
        <p:spPr>
          <a:xfrm>
            <a:off x="707231" y="1549105"/>
            <a:ext cx="285750" cy="21431"/>
          </a:xfrm>
          <a:prstGeom prst="rect">
            <a:avLst/>
          </a:prstGeom>
          <a:solidFill>
            <a:srgbClr val="8B5CF6"/>
          </a:solidFill>
          <a:ln/>
        </p:spPr>
      </p:sp>
      <p:sp>
        <p:nvSpPr>
          <p:cNvPr id="8" name="Text 4"/>
          <p:cNvSpPr/>
          <p:nvPr/>
        </p:nvSpPr>
        <p:spPr>
          <a:xfrm>
            <a:off x="707231" y="1549105"/>
            <a:ext cx="2416959" cy="221456"/>
          </a:xfrm>
          <a:prstGeom prst="rect">
            <a:avLst/>
          </a:prstGeom>
          <a:noFill/>
          <a:ln/>
        </p:spPr>
        <p:txBody>
          <a:bodyPr wrap="square" lIns="0" tIns="102108" rIns="0" bIns="0" rtlCol="0" anchor="t">
            <a:spAutoFit/>
          </a:bodyPr>
          <a:lstStyle/>
          <a:p>
            <a:pPr algn="l" indent="0" marL="0">
              <a:lnSpc>
                <a:spcPts val="900"/>
              </a:lnSpc>
              <a:buNone/>
            </a:pPr>
            <a:r>
              <a:rPr lang="en-US" sz="727" dirty="0">
                <a:solidFill>
                  <a:srgbClr val="E0E0E0"/>
                </a:solidFill>
              </a:rPr>
              <a:t>Visual separator with ::before</a:t>
            </a:r>
            <a:endParaRPr lang="en-US" sz="727" dirty="0"/>
          </a:p>
        </p:txBody>
      </p:sp>
      <p:sp>
        <p:nvSpPr>
          <p:cNvPr id="9" name="Text 5"/>
          <p:cNvSpPr/>
          <p:nvPr/>
        </p:nvSpPr>
        <p:spPr>
          <a:xfrm>
            <a:off x="707231" y="1856287"/>
            <a:ext cx="2416959"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2D3EE"/>
                </a:solidFill>
              </a:rPr>
              <a:t>Bullet Points</a:t>
            </a:r>
            <a:endParaRPr lang="en-US" sz="683" dirty="0"/>
          </a:p>
        </p:txBody>
      </p:sp>
      <p:sp>
        <p:nvSpPr>
          <p:cNvPr id="10" name="Shape 6"/>
          <p:cNvSpPr/>
          <p:nvPr/>
        </p:nvSpPr>
        <p:spPr>
          <a:xfrm>
            <a:off x="707231" y="2106318"/>
            <a:ext cx="57150" cy="57150"/>
          </a:xfrm>
          <a:prstGeom prst="ellipse">
            <a:avLst/>
          </a:prstGeom>
          <a:solidFill>
            <a:srgbClr val="22D3EE"/>
          </a:solidFill>
          <a:ln/>
        </p:spPr>
      </p:sp>
      <p:sp>
        <p:nvSpPr>
          <p:cNvPr id="11" name="Text 7"/>
          <p:cNvSpPr/>
          <p:nvPr/>
        </p:nvSpPr>
        <p:spPr>
          <a:xfrm>
            <a:off x="707231" y="2049168"/>
            <a:ext cx="2416959" cy="135731"/>
          </a:xfrm>
          <a:prstGeom prst="rect">
            <a:avLst/>
          </a:prstGeom>
          <a:noFill/>
          <a:ln/>
        </p:spPr>
        <p:txBody>
          <a:bodyPr wrap="none" lIns="170053" tIns="0" rIns="0" bIns="0" rtlCol="0" anchor="t">
            <a:spAutoFit/>
          </a:bodyPr>
          <a:lstStyle/>
          <a:p>
            <a:pPr algn="l" indent="0" marL="0">
              <a:lnSpc>
                <a:spcPts val="900"/>
              </a:lnSpc>
              <a:buNone/>
            </a:pPr>
            <a:r>
              <a:rPr lang="en-US" sz="727" dirty="0">
                <a:solidFill>
                  <a:srgbClr val="E0E0E0"/>
                </a:solidFill>
              </a:rPr>
              <a:t>Custom bullet one</a:t>
            </a:r>
            <a:endParaRPr lang="en-US" sz="727" dirty="0"/>
          </a:p>
        </p:txBody>
      </p:sp>
      <p:sp>
        <p:nvSpPr>
          <p:cNvPr id="12" name="Shape 8"/>
          <p:cNvSpPr/>
          <p:nvPr/>
        </p:nvSpPr>
        <p:spPr>
          <a:xfrm>
            <a:off x="707231" y="2299199"/>
            <a:ext cx="57150" cy="57150"/>
          </a:xfrm>
          <a:prstGeom prst="ellipse">
            <a:avLst/>
          </a:prstGeom>
          <a:solidFill>
            <a:srgbClr val="22D3EE"/>
          </a:solidFill>
          <a:ln/>
        </p:spPr>
      </p:sp>
      <p:sp>
        <p:nvSpPr>
          <p:cNvPr id="13" name="Text 9"/>
          <p:cNvSpPr/>
          <p:nvPr/>
        </p:nvSpPr>
        <p:spPr>
          <a:xfrm>
            <a:off x="707231" y="2242049"/>
            <a:ext cx="2416959" cy="135731"/>
          </a:xfrm>
          <a:prstGeom prst="rect">
            <a:avLst/>
          </a:prstGeom>
          <a:noFill/>
          <a:ln/>
        </p:spPr>
        <p:txBody>
          <a:bodyPr wrap="none" lIns="170053" tIns="0" rIns="0" bIns="0" rtlCol="0" anchor="t">
            <a:spAutoFit/>
          </a:bodyPr>
          <a:lstStyle/>
          <a:p>
            <a:pPr algn="l" indent="0" marL="0">
              <a:lnSpc>
                <a:spcPts val="900"/>
              </a:lnSpc>
              <a:buNone/>
            </a:pPr>
            <a:r>
              <a:rPr lang="en-US" sz="727" dirty="0">
                <a:solidFill>
                  <a:srgbClr val="E0E0E0"/>
                </a:solidFill>
              </a:rPr>
              <a:t>Custom bullet two</a:t>
            </a:r>
            <a:endParaRPr lang="en-US" sz="727" dirty="0"/>
          </a:p>
        </p:txBody>
      </p:sp>
      <p:sp>
        <p:nvSpPr>
          <p:cNvPr id="14" name="Shape 10"/>
          <p:cNvSpPr/>
          <p:nvPr/>
        </p:nvSpPr>
        <p:spPr>
          <a:xfrm>
            <a:off x="707231" y="2492080"/>
            <a:ext cx="57150" cy="57150"/>
          </a:xfrm>
          <a:prstGeom prst="ellipse">
            <a:avLst/>
          </a:prstGeom>
          <a:solidFill>
            <a:srgbClr val="22D3EE"/>
          </a:solidFill>
          <a:ln/>
        </p:spPr>
      </p:sp>
      <p:sp>
        <p:nvSpPr>
          <p:cNvPr id="15" name="Text 11"/>
          <p:cNvSpPr/>
          <p:nvPr/>
        </p:nvSpPr>
        <p:spPr>
          <a:xfrm>
            <a:off x="707231" y="2434930"/>
            <a:ext cx="2416959" cy="135731"/>
          </a:xfrm>
          <a:prstGeom prst="rect">
            <a:avLst/>
          </a:prstGeom>
          <a:noFill/>
          <a:ln/>
        </p:spPr>
        <p:txBody>
          <a:bodyPr wrap="none" lIns="170053" tIns="0" rIns="0" bIns="0" rtlCol="0" anchor="t">
            <a:spAutoFit/>
          </a:bodyPr>
          <a:lstStyle/>
          <a:p>
            <a:pPr algn="l" indent="0" marL="0">
              <a:lnSpc>
                <a:spcPts val="900"/>
              </a:lnSpc>
              <a:buNone/>
            </a:pPr>
            <a:r>
              <a:rPr lang="en-US" sz="727" dirty="0">
                <a:solidFill>
                  <a:srgbClr val="E0E0E0"/>
                </a:solidFill>
              </a:rPr>
              <a:t>Custom bullet three</a:t>
            </a:r>
            <a:endParaRPr lang="en-US" sz="727" dirty="0"/>
          </a:p>
        </p:txBody>
      </p:sp>
      <p:sp>
        <p:nvSpPr>
          <p:cNvPr id="16" name="Text 12"/>
          <p:cNvSpPr/>
          <p:nvPr/>
        </p:nvSpPr>
        <p:spPr>
          <a:xfrm>
            <a:off x="707231" y="2656387"/>
            <a:ext cx="2416959"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2D3EE"/>
                </a:solidFill>
              </a:rPr>
              <a:t>Section Number</a:t>
            </a:r>
            <a:endParaRPr lang="en-US" sz="683" dirty="0"/>
          </a:p>
        </p:txBody>
      </p:sp>
      <p:sp>
        <p:nvSpPr>
          <p:cNvPr id="17" name="Text 13"/>
          <p:cNvSpPr/>
          <p:nvPr/>
        </p:nvSpPr>
        <p:spPr>
          <a:xfrm>
            <a:off x="850106" y="2995715"/>
            <a:ext cx="1437791"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E0E0E0"/>
                </a:solidFill>
              </a:rPr>
              <a:t>Large faded number with ::after</a:t>
            </a:r>
            <a:endParaRPr lang="en-US" sz="727" dirty="0"/>
          </a:p>
        </p:txBody>
      </p:sp>
      <p:sp>
        <p:nvSpPr>
          <p:cNvPr id="18" name="Text 14"/>
          <p:cNvSpPr/>
          <p:nvPr/>
        </p:nvSpPr>
        <p:spPr>
          <a:xfrm>
            <a:off x="564356" y="2830516"/>
            <a:ext cx="392292"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22D3EE">
                    <a:alpha val="10000"/>
                  </a:srgbClr>
                </a:solidFill>
              </a:rPr>
              <a:t>03</a:t>
            </a:r>
            <a:endParaRPr lang="en-US" sz="2436" dirty="0"/>
          </a:p>
        </p:txBody>
      </p:sp>
      <p:sp>
        <p:nvSpPr>
          <p:cNvPr id="19" name="Text 15"/>
          <p:cNvSpPr/>
          <p:nvPr/>
        </p:nvSpPr>
        <p:spPr>
          <a:xfrm>
            <a:off x="707231" y="3363618"/>
            <a:ext cx="2416959"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2D3EE"/>
                </a:solidFill>
              </a:rPr>
              <a:t>Visual Indicator</a:t>
            </a:r>
            <a:endParaRPr lang="en-US" sz="683" dirty="0"/>
          </a:p>
        </p:txBody>
      </p:sp>
      <p:sp>
        <p:nvSpPr>
          <p:cNvPr id="20" name="Shape 16"/>
          <p:cNvSpPr/>
          <p:nvPr/>
        </p:nvSpPr>
        <p:spPr>
          <a:xfrm>
            <a:off x="707231" y="3581502"/>
            <a:ext cx="85725" cy="85725"/>
          </a:xfrm>
          <a:prstGeom prst="rect">
            <a:avLst/>
          </a:prstGeom>
          <a:solidFill>
            <a:srgbClr val="8B5CF6"/>
          </a:solidFill>
          <a:ln/>
        </p:spPr>
      </p:sp>
      <p:sp>
        <p:nvSpPr>
          <p:cNvPr id="21" name="Text 17"/>
          <p:cNvSpPr/>
          <p:nvPr/>
        </p:nvSpPr>
        <p:spPr>
          <a:xfrm>
            <a:off x="707231" y="3556499"/>
            <a:ext cx="2416959" cy="135731"/>
          </a:xfrm>
          <a:prstGeom prst="rect">
            <a:avLst/>
          </a:prstGeom>
          <a:noFill/>
          <a:ln/>
        </p:spPr>
        <p:txBody>
          <a:bodyPr wrap="none" lIns="170053" tIns="0" rIns="0" bIns="0" rtlCol="0" anchor="t">
            <a:spAutoFit/>
          </a:bodyPr>
          <a:lstStyle/>
          <a:p>
            <a:pPr algn="l" indent="0" marL="0">
              <a:lnSpc>
                <a:spcPts val="900"/>
              </a:lnSpc>
              <a:buNone/>
            </a:pPr>
            <a:r>
              <a:rPr lang="en-US" sz="727" dirty="0">
                <a:solidFill>
                  <a:srgbClr val="E0E0E0"/>
                </a:solidFill>
              </a:rPr>
              <a:t>Gradient indicator with ::before</a:t>
            </a:r>
            <a:endParaRPr lang="en-US" sz="727" dirty="0"/>
          </a:p>
        </p:txBody>
      </p:sp>
      <p:sp>
        <p:nvSpPr>
          <p:cNvPr id="22" name="Text 18"/>
          <p:cNvSpPr/>
          <p:nvPr/>
        </p:nvSpPr>
        <p:spPr>
          <a:xfrm>
            <a:off x="3431372" y="1356224"/>
            <a:ext cx="109773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Accent Line</a:t>
            </a:r>
            <a:endParaRPr lang="en-US" sz="584" dirty="0"/>
          </a:p>
        </p:txBody>
      </p:sp>
      <p:sp>
        <p:nvSpPr>
          <p:cNvPr id="23" name="Shape 19"/>
          <p:cNvSpPr/>
          <p:nvPr/>
        </p:nvSpPr>
        <p:spPr>
          <a:xfrm>
            <a:off x="3431372" y="1529460"/>
            <a:ext cx="1097738" cy="554310"/>
          </a:xfrm>
          <a:prstGeom prst="rect">
            <a:avLst/>
          </a:prstGeom>
          <a:solidFill>
            <a:srgbClr val="22D3EE">
              <a:alpha val="5000"/>
            </a:srgbClr>
          </a:solidFill>
          <a:ln/>
        </p:spPr>
      </p:sp>
      <p:sp>
        <p:nvSpPr>
          <p:cNvPr id="24" name="Shape 20"/>
          <p:cNvSpPr/>
          <p:nvPr/>
        </p:nvSpPr>
        <p:spPr>
          <a:xfrm>
            <a:off x="3431372" y="1529460"/>
            <a:ext cx="14288" cy="554310"/>
          </a:xfrm>
          <a:prstGeom prst="rect">
            <a:avLst/>
          </a:prstGeom>
          <a:solidFill>
            <a:srgbClr val="22D3EE"/>
          </a:solidFill>
          <a:ln/>
        </p:spPr>
      </p:sp>
      <p:sp>
        <p:nvSpPr>
          <p:cNvPr id="25" name="Text 21"/>
          <p:cNvSpPr/>
          <p:nvPr/>
        </p:nvSpPr>
        <p:spPr>
          <a:xfrm>
            <a:off x="3431372" y="1529460"/>
            <a:ext cx="1097738" cy="554310"/>
          </a:xfrm>
          <a:prstGeom prst="rect">
            <a:avLst/>
          </a:prstGeom>
          <a:noFill/>
          <a:ln/>
        </p:spPr>
        <p:txBody>
          <a:bodyPr wrap="square" lIns="68072" tIns="68072" rIns="68072" bIns="68072" rtlCol="0" anchor="t">
            <a:spAutoFit/>
          </a:bodyPr>
          <a:lstStyle/>
          <a:p>
            <a:pPr algn="l" indent="0" marL="0">
              <a:lnSpc>
                <a:spcPts val="900"/>
              </a:lnSpc>
              <a:buNone/>
            </a:pPr>
            <a:r>
              <a:rPr lang="en-US" sz="568" dirty="0">
                <a:solidFill>
                  <a:srgbClr val="22D3EE"/>
                </a:solidFill>
              </a:rPr>
              <a:t>element::before {\n content: '';\n width: 40px;\n height: 3px;\n background: gradient;\n}</a:t>
            </a:r>
            <a:endParaRPr lang="en-US" sz="568" dirty="0"/>
          </a:p>
        </p:txBody>
      </p:sp>
      <p:sp>
        <p:nvSpPr>
          <p:cNvPr id="26" name="Text 22"/>
          <p:cNvSpPr/>
          <p:nvPr/>
        </p:nvSpPr>
        <p:spPr>
          <a:xfrm>
            <a:off x="4750566" y="1356224"/>
            <a:ext cx="1097766"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Bullet Point</a:t>
            </a:r>
            <a:endParaRPr lang="en-US" sz="584" dirty="0"/>
          </a:p>
        </p:txBody>
      </p:sp>
      <p:sp>
        <p:nvSpPr>
          <p:cNvPr id="27" name="Shape 23"/>
          <p:cNvSpPr/>
          <p:nvPr/>
        </p:nvSpPr>
        <p:spPr>
          <a:xfrm>
            <a:off x="4750566" y="1529460"/>
            <a:ext cx="1097766" cy="664313"/>
          </a:xfrm>
          <a:prstGeom prst="rect">
            <a:avLst/>
          </a:prstGeom>
          <a:solidFill>
            <a:srgbClr val="22D3EE">
              <a:alpha val="5000"/>
            </a:srgbClr>
          </a:solidFill>
          <a:ln/>
        </p:spPr>
      </p:sp>
      <p:sp>
        <p:nvSpPr>
          <p:cNvPr id="28" name="Shape 24"/>
          <p:cNvSpPr/>
          <p:nvPr/>
        </p:nvSpPr>
        <p:spPr>
          <a:xfrm>
            <a:off x="4750566" y="1529460"/>
            <a:ext cx="14288" cy="664313"/>
          </a:xfrm>
          <a:prstGeom prst="rect">
            <a:avLst/>
          </a:prstGeom>
          <a:solidFill>
            <a:srgbClr val="22D3EE"/>
          </a:solidFill>
          <a:ln/>
        </p:spPr>
      </p:sp>
      <p:sp>
        <p:nvSpPr>
          <p:cNvPr id="29" name="Text 25"/>
          <p:cNvSpPr/>
          <p:nvPr/>
        </p:nvSpPr>
        <p:spPr>
          <a:xfrm>
            <a:off x="4750566" y="1529460"/>
            <a:ext cx="1097766" cy="664313"/>
          </a:xfrm>
          <a:prstGeom prst="rect">
            <a:avLst/>
          </a:prstGeom>
          <a:noFill/>
          <a:ln/>
        </p:spPr>
        <p:txBody>
          <a:bodyPr wrap="square" lIns="68072" tIns="68072" rIns="68072" bIns="68072" rtlCol="0" anchor="t">
            <a:spAutoFit/>
          </a:bodyPr>
          <a:lstStyle/>
          <a:p>
            <a:pPr algn="l" indent="0" marL="0">
              <a:lnSpc>
                <a:spcPts val="900"/>
              </a:lnSpc>
              <a:buNone/>
            </a:pPr>
            <a:r>
              <a:rPr lang="en-US" sz="568" dirty="0">
                <a:solidFill>
                  <a:srgbClr val="22D3EE"/>
                </a:solidFill>
              </a:rPr>
              <a:t>element::before {\n content: '';\n width: 8px;\n height: 8px;\n background: #22D3EE;\n border-radius: 50%;\n}</a:t>
            </a:r>
            <a:endParaRPr lang="en-US" sz="568" dirty="0"/>
          </a:p>
        </p:txBody>
      </p:sp>
      <p:sp>
        <p:nvSpPr>
          <p:cNvPr id="30" name="Text 26"/>
          <p:cNvSpPr/>
          <p:nvPr/>
        </p:nvSpPr>
        <p:spPr>
          <a:xfrm>
            <a:off x="3431372" y="3347712"/>
            <a:ext cx="1097738"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Section Number</a:t>
            </a:r>
            <a:endParaRPr lang="en-US" sz="584" dirty="0"/>
          </a:p>
        </p:txBody>
      </p:sp>
      <p:sp>
        <p:nvSpPr>
          <p:cNvPr id="31" name="Shape 27"/>
          <p:cNvSpPr/>
          <p:nvPr/>
        </p:nvSpPr>
        <p:spPr>
          <a:xfrm>
            <a:off x="3431372" y="3520948"/>
            <a:ext cx="1097738" cy="554310"/>
          </a:xfrm>
          <a:prstGeom prst="rect">
            <a:avLst/>
          </a:prstGeom>
          <a:solidFill>
            <a:srgbClr val="22D3EE">
              <a:alpha val="5000"/>
            </a:srgbClr>
          </a:solidFill>
          <a:ln/>
        </p:spPr>
      </p:sp>
      <p:sp>
        <p:nvSpPr>
          <p:cNvPr id="32" name="Shape 28"/>
          <p:cNvSpPr/>
          <p:nvPr/>
        </p:nvSpPr>
        <p:spPr>
          <a:xfrm>
            <a:off x="3431372" y="3520948"/>
            <a:ext cx="14288" cy="554310"/>
          </a:xfrm>
          <a:prstGeom prst="rect">
            <a:avLst/>
          </a:prstGeom>
          <a:solidFill>
            <a:srgbClr val="22D3EE"/>
          </a:solidFill>
          <a:ln/>
        </p:spPr>
      </p:sp>
      <p:sp>
        <p:nvSpPr>
          <p:cNvPr id="33" name="Text 29"/>
          <p:cNvSpPr/>
          <p:nvPr/>
        </p:nvSpPr>
        <p:spPr>
          <a:xfrm>
            <a:off x="3431372" y="3520948"/>
            <a:ext cx="1097738" cy="554310"/>
          </a:xfrm>
          <a:prstGeom prst="rect">
            <a:avLst/>
          </a:prstGeom>
          <a:noFill/>
          <a:ln/>
        </p:spPr>
        <p:txBody>
          <a:bodyPr wrap="square" lIns="68072" tIns="68072" rIns="68072" bIns="68072" rtlCol="0" anchor="t">
            <a:spAutoFit/>
          </a:bodyPr>
          <a:lstStyle/>
          <a:p>
            <a:pPr algn="l" indent="0" marL="0">
              <a:lnSpc>
                <a:spcPts val="900"/>
              </a:lnSpc>
              <a:buNone/>
            </a:pPr>
            <a:r>
              <a:rPr lang="en-US" sz="568" dirty="0">
                <a:solidFill>
                  <a:srgbClr val="22D3EE"/>
                </a:solidFill>
              </a:rPr>
              <a:t>element::after {\n content: '03';\n font-size: 48px;\n opacity: 0.1;\n position: absolute;\n}</a:t>
            </a:r>
            <a:endParaRPr lang="en-US" sz="568" dirty="0"/>
          </a:p>
        </p:txBody>
      </p:sp>
      <p:sp>
        <p:nvSpPr>
          <p:cNvPr id="34" name="Text 30"/>
          <p:cNvSpPr/>
          <p:nvPr/>
        </p:nvSpPr>
        <p:spPr>
          <a:xfrm>
            <a:off x="4750566" y="3347712"/>
            <a:ext cx="1097766"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Visual Indicator</a:t>
            </a:r>
            <a:endParaRPr lang="en-US" sz="584" dirty="0"/>
          </a:p>
        </p:txBody>
      </p:sp>
      <p:sp>
        <p:nvSpPr>
          <p:cNvPr id="35" name="Shape 31"/>
          <p:cNvSpPr/>
          <p:nvPr/>
        </p:nvSpPr>
        <p:spPr>
          <a:xfrm>
            <a:off x="4750566" y="3520948"/>
            <a:ext cx="1097766" cy="554310"/>
          </a:xfrm>
          <a:prstGeom prst="rect">
            <a:avLst/>
          </a:prstGeom>
          <a:solidFill>
            <a:srgbClr val="22D3EE">
              <a:alpha val="5000"/>
            </a:srgbClr>
          </a:solidFill>
          <a:ln/>
        </p:spPr>
      </p:sp>
      <p:sp>
        <p:nvSpPr>
          <p:cNvPr id="36" name="Shape 32"/>
          <p:cNvSpPr/>
          <p:nvPr/>
        </p:nvSpPr>
        <p:spPr>
          <a:xfrm>
            <a:off x="4750566" y="3520948"/>
            <a:ext cx="14288" cy="554310"/>
          </a:xfrm>
          <a:prstGeom prst="rect">
            <a:avLst/>
          </a:prstGeom>
          <a:solidFill>
            <a:srgbClr val="22D3EE"/>
          </a:solidFill>
          <a:ln/>
        </p:spPr>
      </p:sp>
      <p:sp>
        <p:nvSpPr>
          <p:cNvPr id="37" name="Text 33"/>
          <p:cNvSpPr/>
          <p:nvPr/>
        </p:nvSpPr>
        <p:spPr>
          <a:xfrm>
            <a:off x="4750566" y="3520948"/>
            <a:ext cx="1097766" cy="554310"/>
          </a:xfrm>
          <a:prstGeom prst="rect">
            <a:avLst/>
          </a:prstGeom>
          <a:noFill/>
          <a:ln/>
        </p:spPr>
        <p:txBody>
          <a:bodyPr wrap="square" lIns="68072" tIns="68072" rIns="68072" bIns="68072" rtlCol="0" anchor="t">
            <a:spAutoFit/>
          </a:bodyPr>
          <a:lstStyle/>
          <a:p>
            <a:pPr algn="l" indent="0" marL="0">
              <a:lnSpc>
                <a:spcPts val="900"/>
              </a:lnSpc>
              <a:buNone/>
            </a:pPr>
            <a:r>
              <a:rPr lang="en-US" sz="568" dirty="0">
                <a:solidFill>
                  <a:srgbClr val="22D3EE"/>
                </a:solidFill>
              </a:rPr>
              <a:t>element::before {\n content: '';\n width: 12px;\n height: 12px;\n background: gradient;\n}</a:t>
            </a:r>
            <a:endParaRPr lang="en-US" sz="568" dirty="0"/>
          </a:p>
        </p:txBody>
      </p:sp>
      <p:sp>
        <p:nvSpPr>
          <p:cNvPr id="38" name="Text 34"/>
          <p:cNvSpPr/>
          <p:nvPr/>
        </p:nvSpPr>
        <p:spPr>
          <a:xfrm>
            <a:off x="6155513" y="1356224"/>
            <a:ext cx="2416987"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Accent Lines</a:t>
            </a:r>
            <a:endParaRPr lang="en-US" sz="683" dirty="0"/>
          </a:p>
        </p:txBody>
      </p:sp>
      <p:sp>
        <p:nvSpPr>
          <p:cNvPr id="39" name="Text 35"/>
          <p:cNvSpPr/>
          <p:nvPr/>
        </p:nvSpPr>
        <p:spPr>
          <a:xfrm>
            <a:off x="6155513" y="1534818"/>
            <a:ext cx="2416987" cy="257175"/>
          </a:xfrm>
          <a:prstGeom prst="rect">
            <a:avLst/>
          </a:prstGeom>
          <a:noFill/>
          <a:ln/>
        </p:spPr>
        <p:txBody>
          <a:bodyPr wrap="square" lIns="0" tIns="0" rIns="0" bIns="0" rtlCol="0" anchor="t">
            <a:spAutoFit/>
          </a:bodyPr>
          <a:lstStyle/>
          <a:p>
            <a:pPr algn="l" indent="0" marL="0">
              <a:lnSpc>
                <a:spcPts val="1000"/>
              </a:lnSpc>
              <a:buNone/>
            </a:pPr>
            <a:r>
              <a:rPr lang="en-US" sz="621" dirty="0">
                <a:solidFill>
                  <a:srgbClr val="E0E0E0"/>
                </a:solidFill>
              </a:rPr>
              <a:t>Use ::before to create visual separators and accent lines without extra HTML elements</a:t>
            </a:r>
            <a:endParaRPr lang="en-US" sz="621" dirty="0"/>
          </a:p>
        </p:txBody>
      </p:sp>
      <p:sp>
        <p:nvSpPr>
          <p:cNvPr id="40" name="Text 36"/>
          <p:cNvSpPr/>
          <p:nvPr/>
        </p:nvSpPr>
        <p:spPr>
          <a:xfrm>
            <a:off x="6155513" y="1877718"/>
            <a:ext cx="2416987"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Bullet Points</a:t>
            </a:r>
            <a:endParaRPr lang="en-US" sz="683" dirty="0"/>
          </a:p>
        </p:txBody>
      </p:sp>
      <p:sp>
        <p:nvSpPr>
          <p:cNvPr id="41" name="Text 37"/>
          <p:cNvSpPr/>
          <p:nvPr/>
        </p:nvSpPr>
        <p:spPr>
          <a:xfrm>
            <a:off x="6155513" y="2056312"/>
            <a:ext cx="2416987" cy="257175"/>
          </a:xfrm>
          <a:prstGeom prst="rect">
            <a:avLst/>
          </a:prstGeom>
          <a:noFill/>
          <a:ln/>
        </p:spPr>
        <p:txBody>
          <a:bodyPr wrap="square" lIns="0" tIns="0" rIns="0" bIns="0" rtlCol="0" anchor="t">
            <a:spAutoFit/>
          </a:bodyPr>
          <a:lstStyle/>
          <a:p>
            <a:pPr algn="l" indent="0" marL="0">
              <a:lnSpc>
                <a:spcPts val="1000"/>
              </a:lnSpc>
              <a:buNone/>
            </a:pPr>
            <a:r>
              <a:rPr lang="en-US" sz="621" dirty="0">
                <a:solidFill>
                  <a:srgbClr val="E0E0E0"/>
                </a:solidFill>
              </a:rPr>
              <a:t>Create custom bullets without list markup. Cleaner HTML, easier to style consistently</a:t>
            </a:r>
            <a:endParaRPr lang="en-US" sz="621" dirty="0"/>
          </a:p>
        </p:txBody>
      </p:sp>
      <p:sp>
        <p:nvSpPr>
          <p:cNvPr id="42" name="Text 38"/>
          <p:cNvSpPr/>
          <p:nvPr/>
        </p:nvSpPr>
        <p:spPr>
          <a:xfrm>
            <a:off x="6155513" y="2399212"/>
            <a:ext cx="2416987"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Section Numbers</a:t>
            </a:r>
            <a:endParaRPr lang="en-US" sz="683" dirty="0"/>
          </a:p>
        </p:txBody>
      </p:sp>
      <p:sp>
        <p:nvSpPr>
          <p:cNvPr id="43" name="Text 39"/>
          <p:cNvSpPr/>
          <p:nvPr/>
        </p:nvSpPr>
        <p:spPr>
          <a:xfrm>
            <a:off x="6155513" y="2577805"/>
            <a:ext cx="2416987" cy="257175"/>
          </a:xfrm>
          <a:prstGeom prst="rect">
            <a:avLst/>
          </a:prstGeom>
          <a:noFill/>
          <a:ln/>
        </p:spPr>
        <p:txBody>
          <a:bodyPr wrap="square" lIns="0" tIns="0" rIns="0" bIns="0" rtlCol="0" anchor="t">
            <a:spAutoFit/>
          </a:bodyPr>
          <a:lstStyle/>
          <a:p>
            <a:pPr algn="l" indent="0" marL="0">
              <a:lnSpc>
                <a:spcPts val="1000"/>
              </a:lnSpc>
              <a:buNone/>
            </a:pPr>
            <a:r>
              <a:rPr lang="en-US" sz="621" dirty="0">
                <a:solidFill>
                  <a:srgbClr val="E0E0E0"/>
                </a:solidFill>
              </a:rPr>
              <a:t>Add large faded background numbers using ::after. Enhances visual hierarchy without cluttering</a:t>
            </a:r>
            <a:endParaRPr lang="en-US" sz="621" dirty="0"/>
          </a:p>
        </p:txBody>
      </p:sp>
      <p:sp>
        <p:nvSpPr>
          <p:cNvPr id="44" name="Text 40"/>
          <p:cNvSpPr/>
          <p:nvPr/>
        </p:nvSpPr>
        <p:spPr>
          <a:xfrm>
            <a:off x="6155513" y="2920705"/>
            <a:ext cx="2416987"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Benefits</a:t>
            </a:r>
            <a:endParaRPr lang="en-US" sz="683" dirty="0"/>
          </a:p>
        </p:txBody>
      </p:sp>
      <p:sp>
        <p:nvSpPr>
          <p:cNvPr id="45" name="Text 41"/>
          <p:cNvSpPr/>
          <p:nvPr/>
        </p:nvSpPr>
        <p:spPr>
          <a:xfrm>
            <a:off x="6155513" y="3099299"/>
            <a:ext cx="2416987" cy="257175"/>
          </a:xfrm>
          <a:prstGeom prst="rect">
            <a:avLst/>
          </a:prstGeom>
          <a:noFill/>
          <a:ln/>
        </p:spPr>
        <p:txBody>
          <a:bodyPr wrap="square" lIns="0" tIns="0" rIns="0" bIns="0" rtlCol="0" anchor="t">
            <a:spAutoFit/>
          </a:bodyPr>
          <a:lstStyle/>
          <a:p>
            <a:pPr algn="l" indent="0" marL="0">
              <a:lnSpc>
                <a:spcPts val="1000"/>
              </a:lnSpc>
              <a:buNone/>
            </a:pPr>
            <a:r>
              <a:rPr lang="en-US" sz="621" dirty="0">
                <a:solidFill>
                  <a:srgbClr val="E0E0E0"/>
                </a:solidFill>
              </a:rPr>
              <a:t>Cleaner HTML structure, easier maintenance, faster to build, reduces file size, professional results</a:t>
            </a:r>
            <a:endParaRPr lang="en-US" sz="62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Content Strategy</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Content Architecture &amp; Text Density</a:t>
            </a:r>
            <a:endParaRPr lang="en-US" sz="2436" dirty="0"/>
          </a:p>
        </p:txBody>
      </p:sp>
      <p:sp>
        <p:nvSpPr>
          <p:cNvPr id="6" name="Text 2"/>
          <p:cNvSpPr/>
          <p:nvPr/>
        </p:nvSpPr>
        <p:spPr>
          <a:xfrm>
            <a:off x="571500" y="1356224"/>
            <a:ext cx="253363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Guidelines</a:t>
            </a:r>
            <a:endParaRPr lang="en-US" sz="784" dirty="0"/>
          </a:p>
        </p:txBody>
      </p:sp>
      <p:sp>
        <p:nvSpPr>
          <p:cNvPr id="7" name="Text 3"/>
          <p:cNvSpPr/>
          <p:nvPr/>
        </p:nvSpPr>
        <p:spPr>
          <a:xfrm>
            <a:off x="707231" y="1625901"/>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Slide Titles</a:t>
            </a:r>
            <a:endParaRPr lang="en-US" sz="683" dirty="0"/>
          </a:p>
        </p:txBody>
      </p:sp>
      <p:sp>
        <p:nvSpPr>
          <p:cNvPr id="8" name="Text 4"/>
          <p:cNvSpPr/>
          <p:nvPr/>
        </p:nvSpPr>
        <p:spPr>
          <a:xfrm>
            <a:off x="707231" y="1804495"/>
            <a:ext cx="23979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2D3EE"/>
                </a:solidFill>
              </a:rPr>
              <a:t>3–5</a:t>
            </a:r>
            <a:endParaRPr lang="en-US" sz="885" dirty="0"/>
          </a:p>
        </p:txBody>
      </p:sp>
      <p:sp>
        <p:nvSpPr>
          <p:cNvPr id="9" name="Text 5"/>
          <p:cNvSpPr/>
          <p:nvPr/>
        </p:nvSpPr>
        <p:spPr>
          <a:xfrm>
            <a:off x="707231" y="2022379"/>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words maximum</a:t>
            </a:r>
            <a:endParaRPr lang="en-US" sz="621" dirty="0"/>
          </a:p>
        </p:txBody>
      </p:sp>
      <p:sp>
        <p:nvSpPr>
          <p:cNvPr id="10" name="Text 6"/>
          <p:cNvSpPr/>
          <p:nvPr/>
        </p:nvSpPr>
        <p:spPr>
          <a:xfrm>
            <a:off x="707231" y="2228097"/>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Subtitles</a:t>
            </a:r>
            <a:endParaRPr lang="en-US" sz="683" dirty="0"/>
          </a:p>
        </p:txBody>
      </p:sp>
      <p:sp>
        <p:nvSpPr>
          <p:cNvPr id="11" name="Text 7"/>
          <p:cNvSpPr/>
          <p:nvPr/>
        </p:nvSpPr>
        <p:spPr>
          <a:xfrm>
            <a:off x="707231" y="2406690"/>
            <a:ext cx="23979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2D3EE"/>
                </a:solidFill>
              </a:rPr>
              <a:t>1–2</a:t>
            </a:r>
            <a:endParaRPr lang="en-US" sz="885" dirty="0"/>
          </a:p>
        </p:txBody>
      </p:sp>
      <p:sp>
        <p:nvSpPr>
          <p:cNvPr id="12" name="Text 8"/>
          <p:cNvSpPr/>
          <p:nvPr/>
        </p:nvSpPr>
        <p:spPr>
          <a:xfrm>
            <a:off x="707231" y="2624575"/>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words maximum</a:t>
            </a:r>
            <a:endParaRPr lang="en-US" sz="621" dirty="0"/>
          </a:p>
        </p:txBody>
      </p:sp>
      <p:sp>
        <p:nvSpPr>
          <p:cNvPr id="13" name="Text 9"/>
          <p:cNvSpPr/>
          <p:nvPr/>
        </p:nvSpPr>
        <p:spPr>
          <a:xfrm>
            <a:off x="707231" y="2830292"/>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Body Text</a:t>
            </a:r>
            <a:endParaRPr lang="en-US" sz="683" dirty="0"/>
          </a:p>
        </p:txBody>
      </p:sp>
      <p:sp>
        <p:nvSpPr>
          <p:cNvPr id="14" name="Text 10"/>
          <p:cNvSpPr/>
          <p:nvPr/>
        </p:nvSpPr>
        <p:spPr>
          <a:xfrm>
            <a:off x="707231" y="3008886"/>
            <a:ext cx="23979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2D3EE"/>
                </a:solidFill>
              </a:rPr>
              <a:t>15–25</a:t>
            </a:r>
            <a:endParaRPr lang="en-US" sz="885" dirty="0"/>
          </a:p>
        </p:txBody>
      </p:sp>
      <p:sp>
        <p:nvSpPr>
          <p:cNvPr id="15" name="Text 11"/>
          <p:cNvSpPr/>
          <p:nvPr/>
        </p:nvSpPr>
        <p:spPr>
          <a:xfrm>
            <a:off x="707231" y="3226770"/>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words per paragraph</a:t>
            </a:r>
            <a:endParaRPr lang="en-US" sz="621" dirty="0"/>
          </a:p>
        </p:txBody>
      </p:sp>
      <p:sp>
        <p:nvSpPr>
          <p:cNvPr id="16" name="Text 12"/>
          <p:cNvSpPr/>
          <p:nvPr/>
        </p:nvSpPr>
        <p:spPr>
          <a:xfrm>
            <a:off x="707231" y="3432488"/>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Bullet Points</a:t>
            </a:r>
            <a:endParaRPr lang="en-US" sz="683" dirty="0"/>
          </a:p>
        </p:txBody>
      </p:sp>
      <p:sp>
        <p:nvSpPr>
          <p:cNvPr id="17" name="Text 13"/>
          <p:cNvSpPr/>
          <p:nvPr/>
        </p:nvSpPr>
        <p:spPr>
          <a:xfrm>
            <a:off x="707231" y="3611082"/>
            <a:ext cx="23979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2D3EE"/>
                </a:solidFill>
              </a:rPr>
              <a:t>3–5</a:t>
            </a:r>
            <a:endParaRPr lang="en-US" sz="885" dirty="0"/>
          </a:p>
        </p:txBody>
      </p:sp>
      <p:sp>
        <p:nvSpPr>
          <p:cNvPr id="18" name="Text 14"/>
          <p:cNvSpPr/>
          <p:nvPr/>
        </p:nvSpPr>
        <p:spPr>
          <a:xfrm>
            <a:off x="707231" y="3828966"/>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per section</a:t>
            </a:r>
            <a:endParaRPr lang="en-US" sz="621" dirty="0"/>
          </a:p>
        </p:txBody>
      </p:sp>
      <p:sp>
        <p:nvSpPr>
          <p:cNvPr id="19" name="Text 15"/>
          <p:cNvSpPr/>
          <p:nvPr/>
        </p:nvSpPr>
        <p:spPr>
          <a:xfrm>
            <a:off x="707231" y="4034684"/>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Labels</a:t>
            </a:r>
            <a:endParaRPr lang="en-US" sz="683" dirty="0"/>
          </a:p>
        </p:txBody>
      </p:sp>
      <p:sp>
        <p:nvSpPr>
          <p:cNvPr id="20" name="Text 16"/>
          <p:cNvSpPr/>
          <p:nvPr/>
        </p:nvSpPr>
        <p:spPr>
          <a:xfrm>
            <a:off x="707231" y="4213278"/>
            <a:ext cx="23979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2D3EE"/>
                </a:solidFill>
              </a:rPr>
              <a:t>1–3</a:t>
            </a:r>
            <a:endParaRPr lang="en-US" sz="885" dirty="0"/>
          </a:p>
        </p:txBody>
      </p:sp>
      <p:sp>
        <p:nvSpPr>
          <p:cNvPr id="21" name="Text 17"/>
          <p:cNvSpPr/>
          <p:nvPr/>
        </p:nvSpPr>
        <p:spPr>
          <a:xfrm>
            <a:off x="707231" y="4431162"/>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words maximum</a:t>
            </a:r>
            <a:endParaRPr lang="en-US" sz="621" dirty="0"/>
          </a:p>
        </p:txBody>
      </p:sp>
      <p:sp>
        <p:nvSpPr>
          <p:cNvPr id="22" name="Text 18"/>
          <p:cNvSpPr/>
          <p:nvPr/>
        </p:nvSpPr>
        <p:spPr>
          <a:xfrm>
            <a:off x="3305156" y="1356224"/>
            <a:ext cx="253365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Examples</a:t>
            </a:r>
            <a:endParaRPr lang="en-US" sz="784" dirty="0"/>
          </a:p>
        </p:txBody>
      </p:sp>
      <p:sp>
        <p:nvSpPr>
          <p:cNvPr id="23" name="Shape 19"/>
          <p:cNvSpPr/>
          <p:nvPr/>
        </p:nvSpPr>
        <p:spPr>
          <a:xfrm>
            <a:off x="3305156" y="1625901"/>
            <a:ext cx="2533659" cy="1375172"/>
          </a:xfrm>
          <a:prstGeom prst="rect">
            <a:avLst/>
          </a:prstGeom>
          <a:solidFill>
            <a:srgbClr val="22D3EE">
              <a:alpha val="5000"/>
            </a:srgbClr>
          </a:solidFill>
          <a:ln/>
        </p:spPr>
      </p:sp>
      <p:sp>
        <p:nvSpPr>
          <p:cNvPr id="24" name="Shape 20"/>
          <p:cNvSpPr/>
          <p:nvPr/>
        </p:nvSpPr>
        <p:spPr>
          <a:xfrm>
            <a:off x="3305156" y="1625901"/>
            <a:ext cx="21431" cy="1375172"/>
          </a:xfrm>
          <a:prstGeom prst="rect">
            <a:avLst/>
          </a:prstGeom>
          <a:solidFill>
            <a:srgbClr val="22D3EE"/>
          </a:solidFill>
          <a:ln/>
        </p:spPr>
      </p:sp>
      <p:sp>
        <p:nvSpPr>
          <p:cNvPr id="25" name="Text 21"/>
          <p:cNvSpPr/>
          <p:nvPr/>
        </p:nvSpPr>
        <p:spPr>
          <a:xfrm>
            <a:off x="3419456" y="1711626"/>
            <a:ext cx="233363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Slide Title</a:t>
            </a:r>
            <a:endParaRPr lang="en-US" sz="784" dirty="0"/>
          </a:p>
        </p:txBody>
      </p:sp>
      <p:sp>
        <p:nvSpPr>
          <p:cNvPr id="26" name="Text 22"/>
          <p:cNvSpPr/>
          <p:nvPr/>
        </p:nvSpPr>
        <p:spPr>
          <a:xfrm>
            <a:off x="3419456" y="1924152"/>
            <a:ext cx="2333634"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22D3EE"/>
                </a:solidFill>
              </a:rPr>
              <a:t>Subtitle</a:t>
            </a:r>
            <a:endParaRPr lang="en-US" sz="634" dirty="0"/>
          </a:p>
        </p:txBody>
      </p:sp>
      <p:sp>
        <p:nvSpPr>
          <p:cNvPr id="27" name="Text 23"/>
          <p:cNvSpPr/>
          <p:nvPr/>
        </p:nvSpPr>
        <p:spPr>
          <a:xfrm>
            <a:off x="3419456" y="2108104"/>
            <a:ext cx="2333634" cy="278606"/>
          </a:xfrm>
          <a:prstGeom prst="rect">
            <a:avLst/>
          </a:prstGeom>
          <a:noFill/>
          <a:ln/>
        </p:spPr>
        <p:txBody>
          <a:bodyPr wrap="square" lIns="0" tIns="0" rIns="0" bIns="0" rtlCol="0" anchor="t">
            <a:spAutoFit/>
          </a:bodyPr>
          <a:lstStyle/>
          <a:p>
            <a:pPr algn="l" indent="0" marL="0">
              <a:lnSpc>
                <a:spcPts val="1100"/>
              </a:lnSpc>
              <a:buNone/>
            </a:pPr>
            <a:r>
              <a:rPr lang="en-US" sz="674" dirty="0">
                <a:solidFill>
                  <a:srgbClr val="E0E0E0"/>
                </a:solidFill>
              </a:rPr>
              <a:t>This is body text demonstrating recommended density. Keep it scannable and concise.</a:t>
            </a:r>
            <a:endParaRPr lang="en-US" sz="674" dirty="0"/>
          </a:p>
        </p:txBody>
      </p:sp>
      <p:sp>
        <p:nvSpPr>
          <p:cNvPr id="28" name="Text 24"/>
          <p:cNvSpPr/>
          <p:nvPr/>
        </p:nvSpPr>
        <p:spPr>
          <a:xfrm>
            <a:off x="3505181" y="2443860"/>
            <a:ext cx="2247909" cy="128588"/>
          </a:xfrm>
          <a:prstGeom prst="rect">
            <a:avLst/>
          </a:prstGeom>
          <a:noFill/>
          <a:ln/>
        </p:spPr>
        <p:txBody>
          <a:bodyPr wrap="none" lIns="0" tIns="0" rIns="0" bIns="0" rtlCol="0" anchor="t">
            <a:spAutoFit/>
          </a:bodyPr>
          <a:lstStyle/>
          <a:p>
            <a:pPr algn="l" indent="0" marL="0">
              <a:lnSpc>
                <a:spcPts val="1000"/>
              </a:lnSpc>
              <a:buNone/>
            </a:pPr>
            <a:r>
              <a:rPr lang="en-US" sz="621" dirty="0">
                <a:solidFill>
                  <a:srgbClr val="E0E0E0"/>
                </a:solidFill>
              </a:rPr>
              <a:t>First key point</a:t>
            </a:r>
            <a:endParaRPr lang="en-US" sz="621" dirty="0"/>
          </a:p>
        </p:txBody>
      </p:sp>
      <p:sp>
        <p:nvSpPr>
          <p:cNvPr id="29" name="Text 25"/>
          <p:cNvSpPr/>
          <p:nvPr/>
        </p:nvSpPr>
        <p:spPr>
          <a:xfrm>
            <a:off x="3505181" y="2601023"/>
            <a:ext cx="2247909" cy="128588"/>
          </a:xfrm>
          <a:prstGeom prst="rect">
            <a:avLst/>
          </a:prstGeom>
          <a:noFill/>
          <a:ln/>
        </p:spPr>
        <p:txBody>
          <a:bodyPr wrap="none" lIns="0" tIns="0" rIns="0" bIns="0" rtlCol="0" anchor="t">
            <a:spAutoFit/>
          </a:bodyPr>
          <a:lstStyle/>
          <a:p>
            <a:pPr algn="l" indent="0" marL="0">
              <a:lnSpc>
                <a:spcPts val="1000"/>
              </a:lnSpc>
              <a:buNone/>
            </a:pPr>
            <a:r>
              <a:rPr lang="en-US" sz="621" dirty="0">
                <a:solidFill>
                  <a:srgbClr val="E0E0E0"/>
                </a:solidFill>
              </a:rPr>
              <a:t>Second key point</a:t>
            </a:r>
            <a:endParaRPr lang="en-US" sz="621" dirty="0"/>
          </a:p>
        </p:txBody>
      </p:sp>
      <p:sp>
        <p:nvSpPr>
          <p:cNvPr id="30" name="Text 26"/>
          <p:cNvSpPr/>
          <p:nvPr/>
        </p:nvSpPr>
        <p:spPr>
          <a:xfrm>
            <a:off x="3505181" y="2758185"/>
            <a:ext cx="2247909" cy="128588"/>
          </a:xfrm>
          <a:prstGeom prst="rect">
            <a:avLst/>
          </a:prstGeom>
          <a:noFill/>
          <a:ln/>
        </p:spPr>
        <p:txBody>
          <a:bodyPr wrap="none" lIns="0" tIns="0" rIns="0" bIns="0" rtlCol="0" anchor="t">
            <a:spAutoFit/>
          </a:bodyPr>
          <a:lstStyle/>
          <a:p>
            <a:pPr algn="l" indent="0" marL="0">
              <a:lnSpc>
                <a:spcPts val="1000"/>
              </a:lnSpc>
              <a:buNone/>
            </a:pPr>
            <a:r>
              <a:rPr lang="en-US" sz="621" dirty="0">
                <a:solidFill>
                  <a:srgbClr val="E0E0E0"/>
                </a:solidFill>
              </a:rPr>
              <a:t>Third key point</a:t>
            </a:r>
            <a:endParaRPr lang="en-US" sz="621" dirty="0"/>
          </a:p>
        </p:txBody>
      </p:sp>
      <p:sp>
        <p:nvSpPr>
          <p:cNvPr id="31" name="Text 27"/>
          <p:cNvSpPr/>
          <p:nvPr/>
        </p:nvSpPr>
        <p:spPr>
          <a:xfrm>
            <a:off x="6038841" y="1356224"/>
            <a:ext cx="253363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22D3EE"/>
                </a:solidFill>
              </a:rPr>
              <a:t>Principles</a:t>
            </a:r>
            <a:endParaRPr lang="en-US" sz="784" dirty="0"/>
          </a:p>
        </p:txBody>
      </p:sp>
      <p:sp>
        <p:nvSpPr>
          <p:cNvPr id="32" name="Text 28"/>
          <p:cNvSpPr/>
          <p:nvPr/>
        </p:nvSpPr>
        <p:spPr>
          <a:xfrm>
            <a:off x="6174572" y="1625901"/>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Scanability</a:t>
            </a:r>
            <a:endParaRPr lang="en-US" sz="683" dirty="0"/>
          </a:p>
        </p:txBody>
      </p:sp>
      <p:sp>
        <p:nvSpPr>
          <p:cNvPr id="33" name="Text 29"/>
          <p:cNvSpPr/>
          <p:nvPr/>
        </p:nvSpPr>
        <p:spPr>
          <a:xfrm>
            <a:off x="6174572" y="1804495"/>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Viewers should grasp content in </a:t>
            </a:r>
            <a:pPr algn="l" indent="0" marL="0">
              <a:lnSpc>
                <a:spcPts val="900"/>
              </a:lnSpc>
              <a:buNone/>
            </a:pPr>
            <a:r>
              <a:rPr lang="en-US" sz="584" b="1" dirty="0">
                <a:solidFill>
                  <a:srgbClr val="22D3EE"/>
                </a:solidFill>
              </a:rPr>
              <a:t>3 seconds</a:t>
            </a:r>
            <a:pPr algn="l" indent="0" marL="0">
              <a:lnSpc>
                <a:spcPts val="900"/>
              </a:lnSpc>
              <a:buNone/>
            </a:pPr>
            <a:r>
              <a:rPr lang="en-US" sz="621" dirty="0">
                <a:solidFill>
                  <a:srgbClr val="E0E0E0"/>
                </a:solidFill>
              </a:rPr>
              <a:t> maximum.</a:t>
            </a:r>
            <a:endParaRPr lang="en-US" sz="621" dirty="0"/>
          </a:p>
        </p:txBody>
      </p:sp>
      <p:sp>
        <p:nvSpPr>
          <p:cNvPr id="34" name="Text 30"/>
          <p:cNvSpPr/>
          <p:nvPr/>
        </p:nvSpPr>
        <p:spPr>
          <a:xfrm>
            <a:off x="6174572" y="2010212"/>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Visual Weight</a:t>
            </a:r>
            <a:endParaRPr lang="en-US" sz="683" dirty="0"/>
          </a:p>
        </p:txBody>
      </p:sp>
      <p:sp>
        <p:nvSpPr>
          <p:cNvPr id="35" name="Text 31"/>
          <p:cNvSpPr/>
          <p:nvPr/>
        </p:nvSpPr>
        <p:spPr>
          <a:xfrm>
            <a:off x="6174572" y="2188806"/>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Every word must </a:t>
            </a:r>
            <a:pPr algn="l" indent="0" marL="0">
              <a:lnSpc>
                <a:spcPts val="900"/>
              </a:lnSpc>
              <a:buNone/>
            </a:pPr>
            <a:r>
              <a:rPr lang="en-US" sz="584" b="1" dirty="0">
                <a:solidFill>
                  <a:srgbClr val="22D3EE"/>
                </a:solidFill>
              </a:rPr>
              <a:t>earn its place</a:t>
            </a:r>
            <a:pPr algn="l" indent="0" marL="0">
              <a:lnSpc>
                <a:spcPts val="900"/>
              </a:lnSpc>
              <a:buNone/>
            </a:pPr>
            <a:r>
              <a:rPr lang="en-US" sz="621" dirty="0">
                <a:solidFill>
                  <a:srgbClr val="E0E0E0"/>
                </a:solidFill>
              </a:rPr>
              <a:t> on the slide.</a:t>
            </a:r>
            <a:endParaRPr lang="en-US" sz="621" dirty="0"/>
          </a:p>
        </p:txBody>
      </p:sp>
      <p:sp>
        <p:nvSpPr>
          <p:cNvPr id="36" name="Text 32"/>
          <p:cNvSpPr/>
          <p:nvPr/>
        </p:nvSpPr>
        <p:spPr>
          <a:xfrm>
            <a:off x="6174572" y="2394524"/>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Hierarchy</a:t>
            </a:r>
            <a:endParaRPr lang="en-US" sz="683" dirty="0"/>
          </a:p>
        </p:txBody>
      </p:sp>
      <p:sp>
        <p:nvSpPr>
          <p:cNvPr id="37" name="Text 33"/>
          <p:cNvSpPr/>
          <p:nvPr/>
        </p:nvSpPr>
        <p:spPr>
          <a:xfrm>
            <a:off x="6174572" y="2573117"/>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Use size, weight, and spacing to guide </a:t>
            </a:r>
            <a:pPr algn="l" indent="0" marL="0">
              <a:lnSpc>
                <a:spcPts val="900"/>
              </a:lnSpc>
              <a:buNone/>
            </a:pPr>
            <a:r>
              <a:rPr lang="en-US" sz="584" b="1" dirty="0">
                <a:solidFill>
                  <a:srgbClr val="22D3EE"/>
                </a:solidFill>
              </a:rPr>
              <a:t>attention</a:t>
            </a:r>
            <a:pPr algn="l" indent="0" marL="0">
              <a:lnSpc>
                <a:spcPts val="900"/>
              </a:lnSpc>
              <a:buNone/>
            </a:pPr>
            <a:r>
              <a:rPr lang="en-US" sz="621" dirty="0">
                <a:solidFill>
                  <a:srgbClr val="E0E0E0"/>
                </a:solidFill>
              </a:rPr>
              <a:t>.</a:t>
            </a:r>
            <a:endParaRPr lang="en-US" sz="621" dirty="0"/>
          </a:p>
        </p:txBody>
      </p:sp>
      <p:sp>
        <p:nvSpPr>
          <p:cNvPr id="38" name="Text 34"/>
          <p:cNvSpPr/>
          <p:nvPr/>
        </p:nvSpPr>
        <p:spPr>
          <a:xfrm>
            <a:off x="6174572" y="2778835"/>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Whitespace</a:t>
            </a:r>
            <a:endParaRPr lang="en-US" sz="683" dirty="0"/>
          </a:p>
        </p:txBody>
      </p:sp>
      <p:sp>
        <p:nvSpPr>
          <p:cNvPr id="39" name="Text 35"/>
          <p:cNvSpPr/>
          <p:nvPr/>
        </p:nvSpPr>
        <p:spPr>
          <a:xfrm>
            <a:off x="6174572" y="2957429"/>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Generous spacing makes content feel </a:t>
            </a:r>
            <a:pPr algn="l" indent="0" marL="0">
              <a:lnSpc>
                <a:spcPts val="900"/>
              </a:lnSpc>
              <a:buNone/>
            </a:pPr>
            <a:r>
              <a:rPr lang="en-US" sz="584" b="1" dirty="0">
                <a:solidFill>
                  <a:srgbClr val="22D3EE"/>
                </a:solidFill>
              </a:rPr>
              <a:t>less overwhelming</a:t>
            </a:r>
            <a:pPr algn="l" indent="0" marL="0">
              <a:lnSpc>
                <a:spcPts val="900"/>
              </a:lnSpc>
              <a:buNone/>
            </a:pPr>
            <a:r>
              <a:rPr lang="en-US" sz="621" dirty="0">
                <a:solidFill>
                  <a:srgbClr val="E0E0E0"/>
                </a:solidFill>
              </a:rPr>
              <a:t>.</a:t>
            </a:r>
            <a:endParaRPr lang="en-US" sz="621" dirty="0"/>
          </a:p>
        </p:txBody>
      </p:sp>
      <p:sp>
        <p:nvSpPr>
          <p:cNvPr id="40" name="Text 36"/>
          <p:cNvSpPr/>
          <p:nvPr/>
        </p:nvSpPr>
        <p:spPr>
          <a:xfrm>
            <a:off x="6174572" y="3163146"/>
            <a:ext cx="239790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solidFill>
              </a:rPr>
              <a:t>Impact</a:t>
            </a:r>
            <a:endParaRPr lang="en-US" sz="683" dirty="0"/>
          </a:p>
        </p:txBody>
      </p:sp>
      <p:sp>
        <p:nvSpPr>
          <p:cNvPr id="41" name="Text 37"/>
          <p:cNvSpPr/>
          <p:nvPr/>
        </p:nvSpPr>
        <p:spPr>
          <a:xfrm>
            <a:off x="6174572" y="3341740"/>
            <a:ext cx="2397900" cy="119993"/>
          </a:xfrm>
          <a:prstGeom prst="rect">
            <a:avLst/>
          </a:prstGeom>
          <a:noFill/>
          <a:ln/>
        </p:spPr>
        <p:txBody>
          <a:bodyPr wrap="none" lIns="0" tIns="0" rIns="0" bIns="0" rtlCol="0" anchor="t">
            <a:spAutoFit/>
          </a:bodyPr>
          <a:lstStyle/>
          <a:p>
            <a:pPr algn="l" indent="0" marL="0">
              <a:lnSpc>
                <a:spcPts val="900"/>
              </a:lnSpc>
              <a:buNone/>
            </a:pPr>
            <a:r>
              <a:rPr lang="en-US" sz="621" dirty="0">
                <a:solidFill>
                  <a:srgbClr val="E0E0E0"/>
                </a:solidFill>
              </a:rPr>
              <a:t>Less text = </a:t>
            </a:r>
            <a:pPr algn="l" indent="0" marL="0">
              <a:lnSpc>
                <a:spcPts val="900"/>
              </a:lnSpc>
              <a:buNone/>
            </a:pPr>
            <a:r>
              <a:rPr lang="en-US" sz="584" b="1" dirty="0">
                <a:solidFill>
                  <a:srgbClr val="22D3EE"/>
                </a:solidFill>
              </a:rPr>
              <a:t>greater impact</a:t>
            </a:r>
            <a:pPr algn="l" indent="0" marL="0">
              <a:lnSpc>
                <a:spcPts val="900"/>
              </a:lnSpc>
              <a:buNone/>
            </a:pPr>
            <a:r>
              <a:rPr lang="en-US" sz="621" dirty="0">
                <a:solidFill>
                  <a:srgbClr val="E0E0E0"/>
                </a:solidFill>
              </a:rPr>
              <a:t> and memorability.</a:t>
            </a:r>
            <a:endParaRPr lang="en-US" sz="62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22D3EE"/>
                </a:solidFill>
              </a:rPr>
              <a:t>Quality Assurance</a:t>
            </a:r>
            <a:endParaRPr lang="en-US" sz="584" dirty="0"/>
          </a:p>
        </p:txBody>
      </p:sp>
      <p:sp>
        <p:nvSpPr>
          <p:cNvPr id="5" name="Text 1"/>
          <p:cNvSpPr/>
          <p:nvPr/>
        </p:nvSpPr>
        <p:spPr>
          <a:xfrm>
            <a:off x="571500" y="659011"/>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Common Pitfalls &amp; Solutions</a:t>
            </a:r>
            <a:endParaRPr lang="en-US" sz="2436" dirty="0"/>
          </a:p>
        </p:txBody>
      </p:sp>
      <p:sp>
        <p:nvSpPr>
          <p:cNvPr id="6" name="Text 2"/>
          <p:cNvSpPr/>
          <p:nvPr/>
        </p:nvSpPr>
        <p:spPr>
          <a:xfrm>
            <a:off x="678656" y="1356224"/>
            <a:ext cx="2359809"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Pitfall 1</a:t>
            </a:r>
            <a:endParaRPr lang="en-US" sz="584" dirty="0"/>
          </a:p>
        </p:txBody>
      </p:sp>
      <p:sp>
        <p:nvSpPr>
          <p:cNvPr id="7" name="Text 3"/>
          <p:cNvSpPr/>
          <p:nvPr/>
        </p:nvSpPr>
        <p:spPr>
          <a:xfrm>
            <a:off x="678656" y="1515173"/>
            <a:ext cx="23598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Inconsistent Spacing</a:t>
            </a:r>
            <a:endParaRPr lang="en-US" sz="784" dirty="0"/>
          </a:p>
        </p:txBody>
      </p:sp>
      <p:sp>
        <p:nvSpPr>
          <p:cNvPr id="8" name="Text 4"/>
          <p:cNvSpPr/>
          <p:nvPr/>
        </p:nvSpPr>
        <p:spPr>
          <a:xfrm>
            <a:off x="678656" y="1713412"/>
            <a:ext cx="2359809"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E0E0E0"/>
                </a:solidFill>
              </a:rPr>
              <a:t>Random spacing values create visual chaos and an unprofessional appearance</a:t>
            </a:r>
            <a:endParaRPr lang="en-US" sz="674" dirty="0"/>
          </a:p>
        </p:txBody>
      </p:sp>
      <p:sp>
        <p:nvSpPr>
          <p:cNvPr id="9" name="Text 5"/>
          <p:cNvSpPr/>
          <p:nvPr/>
        </p:nvSpPr>
        <p:spPr>
          <a:xfrm>
            <a:off x="678656" y="2016296"/>
            <a:ext cx="2359809" cy="275704"/>
          </a:xfrm>
          <a:prstGeom prst="rect">
            <a:avLst/>
          </a:prstGeom>
          <a:noFill/>
          <a:ln/>
        </p:spPr>
        <p:txBody>
          <a:bodyPr wrap="square" lIns="0" tIns="34036" rIns="0" bIns="0" rtlCol="0" anchor="t">
            <a:spAutoFit/>
          </a:bodyPr>
          <a:lstStyle/>
          <a:p>
            <a:pPr algn="l" indent="0" marL="0">
              <a:lnSpc>
                <a:spcPts val="900"/>
              </a:lnSpc>
              <a:buNone/>
            </a:pPr>
            <a:r>
              <a:rPr lang="en-US" sz="621" dirty="0">
                <a:solidFill>
                  <a:srgbClr val="22D3EE"/>
                </a:solidFill>
              </a:rPr>
              <a:t>✓ Use a consistent spacing scale: 8px, 12px, 16px, 24px, 32px</a:t>
            </a:r>
            <a:endParaRPr lang="en-US" sz="621" dirty="0"/>
          </a:p>
        </p:txBody>
      </p:sp>
      <p:sp>
        <p:nvSpPr>
          <p:cNvPr id="10" name="Text 6"/>
          <p:cNvSpPr/>
          <p:nvPr/>
        </p:nvSpPr>
        <p:spPr>
          <a:xfrm>
            <a:off x="3402797" y="1356224"/>
            <a:ext cx="2359809"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Pitfall 2</a:t>
            </a:r>
            <a:endParaRPr lang="en-US" sz="584" dirty="0"/>
          </a:p>
        </p:txBody>
      </p:sp>
      <p:sp>
        <p:nvSpPr>
          <p:cNvPr id="11" name="Text 7"/>
          <p:cNvSpPr/>
          <p:nvPr/>
        </p:nvSpPr>
        <p:spPr>
          <a:xfrm>
            <a:off x="3402797" y="1515173"/>
            <a:ext cx="23598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Too Many Colours</a:t>
            </a:r>
            <a:endParaRPr lang="en-US" sz="784" dirty="0"/>
          </a:p>
        </p:txBody>
      </p:sp>
      <p:sp>
        <p:nvSpPr>
          <p:cNvPr id="12" name="Text 8"/>
          <p:cNvSpPr/>
          <p:nvPr/>
        </p:nvSpPr>
        <p:spPr>
          <a:xfrm>
            <a:off x="3402797" y="1713412"/>
            <a:ext cx="2359809" cy="130011"/>
          </a:xfrm>
          <a:prstGeom prst="rect">
            <a:avLst/>
          </a:prstGeom>
          <a:noFill/>
          <a:ln/>
        </p:spPr>
        <p:txBody>
          <a:bodyPr wrap="none" lIns="0" tIns="0" rIns="0" bIns="0" rtlCol="0" anchor="t">
            <a:spAutoFit/>
          </a:bodyPr>
          <a:lstStyle/>
          <a:p>
            <a:pPr algn="l" indent="0" marL="0">
              <a:lnSpc>
                <a:spcPts val="1000"/>
              </a:lnSpc>
              <a:buNone/>
            </a:pPr>
            <a:r>
              <a:rPr lang="en-US" sz="674" dirty="0">
                <a:solidFill>
                  <a:srgbClr val="E0E0E0"/>
                </a:solidFill>
              </a:rPr>
              <a:t>Using more than three colours dilutes brand identity</a:t>
            </a:r>
            <a:endParaRPr lang="en-US" sz="674" dirty="0"/>
          </a:p>
        </p:txBody>
      </p:sp>
      <p:sp>
        <p:nvSpPr>
          <p:cNvPr id="13" name="Text 9"/>
          <p:cNvSpPr/>
          <p:nvPr/>
        </p:nvSpPr>
        <p:spPr>
          <a:xfrm>
            <a:off x="3402797" y="1886285"/>
            <a:ext cx="2359809" cy="155711"/>
          </a:xfrm>
          <a:prstGeom prst="rect">
            <a:avLst/>
          </a:prstGeom>
          <a:noFill/>
          <a:ln/>
        </p:spPr>
        <p:txBody>
          <a:bodyPr wrap="none" lIns="0" tIns="34036" rIns="0" bIns="0" rtlCol="0" anchor="t">
            <a:spAutoFit/>
          </a:bodyPr>
          <a:lstStyle/>
          <a:p>
            <a:pPr algn="l" indent="0" marL="0">
              <a:lnSpc>
                <a:spcPts val="900"/>
              </a:lnSpc>
              <a:buNone/>
            </a:pPr>
            <a:r>
              <a:rPr lang="en-US" sz="621" dirty="0">
                <a:solidFill>
                  <a:srgbClr val="22D3EE"/>
                </a:solidFill>
              </a:rPr>
              <a:t>✓ Stick to 3 colours: primary, secondary, accent</a:t>
            </a:r>
            <a:endParaRPr lang="en-US" sz="621" dirty="0"/>
          </a:p>
        </p:txBody>
      </p:sp>
      <p:sp>
        <p:nvSpPr>
          <p:cNvPr id="14" name="Text 10"/>
          <p:cNvSpPr/>
          <p:nvPr/>
        </p:nvSpPr>
        <p:spPr>
          <a:xfrm>
            <a:off x="6126938" y="1356224"/>
            <a:ext cx="2359837"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Pitfall 3</a:t>
            </a:r>
            <a:endParaRPr lang="en-US" sz="584" dirty="0"/>
          </a:p>
        </p:txBody>
      </p:sp>
      <p:sp>
        <p:nvSpPr>
          <p:cNvPr id="15" name="Text 11"/>
          <p:cNvSpPr/>
          <p:nvPr/>
        </p:nvSpPr>
        <p:spPr>
          <a:xfrm>
            <a:off x="6126938" y="1515173"/>
            <a:ext cx="235983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Mismatched Typography</a:t>
            </a:r>
            <a:endParaRPr lang="en-US" sz="784" dirty="0"/>
          </a:p>
        </p:txBody>
      </p:sp>
      <p:sp>
        <p:nvSpPr>
          <p:cNvPr id="16" name="Text 12"/>
          <p:cNvSpPr/>
          <p:nvPr/>
        </p:nvSpPr>
        <p:spPr>
          <a:xfrm>
            <a:off x="6126938" y="1713412"/>
            <a:ext cx="2359837"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E0E0E0"/>
                </a:solidFill>
              </a:rPr>
              <a:t>Multiple fonts or inconsistent sizes create visual disorder</a:t>
            </a:r>
            <a:endParaRPr lang="en-US" sz="674" dirty="0"/>
          </a:p>
        </p:txBody>
      </p:sp>
      <p:sp>
        <p:nvSpPr>
          <p:cNvPr id="17" name="Text 13"/>
          <p:cNvSpPr/>
          <p:nvPr/>
        </p:nvSpPr>
        <p:spPr>
          <a:xfrm>
            <a:off x="6126938" y="2016296"/>
            <a:ext cx="2359837" cy="155711"/>
          </a:xfrm>
          <a:prstGeom prst="rect">
            <a:avLst/>
          </a:prstGeom>
          <a:noFill/>
          <a:ln/>
        </p:spPr>
        <p:txBody>
          <a:bodyPr wrap="none" lIns="0" tIns="34036" rIns="0" bIns="0" rtlCol="0" anchor="t">
            <a:spAutoFit/>
          </a:bodyPr>
          <a:lstStyle/>
          <a:p>
            <a:pPr algn="l" indent="0" marL="0">
              <a:lnSpc>
                <a:spcPts val="900"/>
              </a:lnSpc>
              <a:buNone/>
            </a:pPr>
            <a:r>
              <a:rPr lang="en-US" sz="621" dirty="0">
                <a:solidFill>
                  <a:srgbClr val="22D3EE"/>
                </a:solidFill>
              </a:rPr>
              <a:t>✓ Use a consistent type scale and one font family</a:t>
            </a:r>
            <a:endParaRPr lang="en-US" sz="621" dirty="0"/>
          </a:p>
        </p:txBody>
      </p:sp>
      <p:sp>
        <p:nvSpPr>
          <p:cNvPr id="18" name="Text 14"/>
          <p:cNvSpPr/>
          <p:nvPr/>
        </p:nvSpPr>
        <p:spPr>
          <a:xfrm>
            <a:off x="678656" y="2741498"/>
            <a:ext cx="2359809"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Pitfall 4</a:t>
            </a:r>
            <a:endParaRPr lang="en-US" sz="584" dirty="0"/>
          </a:p>
        </p:txBody>
      </p:sp>
      <p:sp>
        <p:nvSpPr>
          <p:cNvPr id="19" name="Text 15"/>
          <p:cNvSpPr/>
          <p:nvPr/>
        </p:nvSpPr>
        <p:spPr>
          <a:xfrm>
            <a:off x="678656" y="2900446"/>
            <a:ext cx="23598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Poor Contrast</a:t>
            </a:r>
            <a:endParaRPr lang="en-US" sz="784" dirty="0"/>
          </a:p>
        </p:txBody>
      </p:sp>
      <p:sp>
        <p:nvSpPr>
          <p:cNvPr id="20" name="Text 16"/>
          <p:cNvSpPr/>
          <p:nvPr/>
        </p:nvSpPr>
        <p:spPr>
          <a:xfrm>
            <a:off x="678656" y="3098685"/>
            <a:ext cx="2359809" cy="130011"/>
          </a:xfrm>
          <a:prstGeom prst="rect">
            <a:avLst/>
          </a:prstGeom>
          <a:noFill/>
          <a:ln/>
        </p:spPr>
        <p:txBody>
          <a:bodyPr wrap="none" lIns="0" tIns="0" rIns="0" bIns="0" rtlCol="0" anchor="t">
            <a:spAutoFit/>
          </a:bodyPr>
          <a:lstStyle/>
          <a:p>
            <a:pPr algn="l" indent="0" marL="0">
              <a:lnSpc>
                <a:spcPts val="1000"/>
              </a:lnSpc>
              <a:buNone/>
            </a:pPr>
            <a:r>
              <a:rPr lang="en-US" sz="674" dirty="0">
                <a:solidFill>
                  <a:srgbClr val="E0E0E0"/>
                </a:solidFill>
              </a:rPr>
              <a:t>Low contrast makes content unreadable</a:t>
            </a:r>
            <a:endParaRPr lang="en-US" sz="674" dirty="0"/>
          </a:p>
        </p:txBody>
      </p:sp>
      <p:sp>
        <p:nvSpPr>
          <p:cNvPr id="21" name="Text 17"/>
          <p:cNvSpPr/>
          <p:nvPr/>
        </p:nvSpPr>
        <p:spPr>
          <a:xfrm>
            <a:off x="678656" y="3271558"/>
            <a:ext cx="2359809" cy="155711"/>
          </a:xfrm>
          <a:prstGeom prst="rect">
            <a:avLst/>
          </a:prstGeom>
          <a:noFill/>
          <a:ln/>
        </p:spPr>
        <p:txBody>
          <a:bodyPr wrap="none" lIns="0" tIns="34036" rIns="0" bIns="0" rtlCol="0" anchor="t">
            <a:spAutoFit/>
          </a:bodyPr>
          <a:lstStyle/>
          <a:p>
            <a:pPr algn="l" indent="0" marL="0">
              <a:lnSpc>
                <a:spcPts val="900"/>
              </a:lnSpc>
              <a:buNone/>
            </a:pPr>
            <a:r>
              <a:rPr lang="en-US" sz="621" dirty="0">
                <a:solidFill>
                  <a:srgbClr val="22D3EE"/>
                </a:solidFill>
              </a:rPr>
              <a:t>✓ Maintain WCAG AA contrast for legibility</a:t>
            </a:r>
            <a:endParaRPr lang="en-US" sz="621" dirty="0"/>
          </a:p>
        </p:txBody>
      </p:sp>
      <p:sp>
        <p:nvSpPr>
          <p:cNvPr id="22" name="Text 18"/>
          <p:cNvSpPr/>
          <p:nvPr/>
        </p:nvSpPr>
        <p:spPr>
          <a:xfrm>
            <a:off x="3402797" y="2741498"/>
            <a:ext cx="2359809"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Pitfall 5</a:t>
            </a:r>
            <a:endParaRPr lang="en-US" sz="584" dirty="0"/>
          </a:p>
        </p:txBody>
      </p:sp>
      <p:sp>
        <p:nvSpPr>
          <p:cNvPr id="23" name="Text 19"/>
          <p:cNvSpPr/>
          <p:nvPr/>
        </p:nvSpPr>
        <p:spPr>
          <a:xfrm>
            <a:off x="3402797" y="2900446"/>
            <a:ext cx="23598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Overflow Content</a:t>
            </a:r>
            <a:endParaRPr lang="en-US" sz="784" dirty="0"/>
          </a:p>
        </p:txBody>
      </p:sp>
      <p:sp>
        <p:nvSpPr>
          <p:cNvPr id="24" name="Text 20"/>
          <p:cNvSpPr/>
          <p:nvPr/>
        </p:nvSpPr>
        <p:spPr>
          <a:xfrm>
            <a:off x="3402797" y="3098685"/>
            <a:ext cx="2359809"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E0E0E0"/>
                </a:solidFill>
              </a:rPr>
              <a:t>Excess content or large padding can push slides beyond 720px</a:t>
            </a:r>
            <a:endParaRPr lang="en-US" sz="674" dirty="0"/>
          </a:p>
        </p:txBody>
      </p:sp>
      <p:sp>
        <p:nvSpPr>
          <p:cNvPr id="25" name="Text 21"/>
          <p:cNvSpPr/>
          <p:nvPr/>
        </p:nvSpPr>
        <p:spPr>
          <a:xfrm>
            <a:off x="3402797" y="3401569"/>
            <a:ext cx="2359809" cy="155711"/>
          </a:xfrm>
          <a:prstGeom prst="rect">
            <a:avLst/>
          </a:prstGeom>
          <a:noFill/>
          <a:ln/>
        </p:spPr>
        <p:txBody>
          <a:bodyPr wrap="none" lIns="0" tIns="34036" rIns="0" bIns="0" rtlCol="0" anchor="t">
            <a:spAutoFit/>
          </a:bodyPr>
          <a:lstStyle/>
          <a:p>
            <a:pPr algn="l" indent="0" marL="0">
              <a:lnSpc>
                <a:spcPts val="900"/>
              </a:lnSpc>
              <a:buNone/>
            </a:pPr>
            <a:r>
              <a:rPr lang="en-US" sz="621" dirty="0">
                <a:solidFill>
                  <a:srgbClr val="22D3EE"/>
                </a:solidFill>
              </a:rPr>
              <a:t>✓ Reduce gaps and padding; simplify content</a:t>
            </a:r>
            <a:endParaRPr lang="en-US" sz="621" dirty="0"/>
          </a:p>
        </p:txBody>
      </p:sp>
      <p:sp>
        <p:nvSpPr>
          <p:cNvPr id="26" name="Text 22"/>
          <p:cNvSpPr/>
          <p:nvPr/>
        </p:nvSpPr>
        <p:spPr>
          <a:xfrm>
            <a:off x="6126938" y="2741498"/>
            <a:ext cx="2359837"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Pitfall 6</a:t>
            </a:r>
            <a:endParaRPr lang="en-US" sz="584" dirty="0"/>
          </a:p>
        </p:txBody>
      </p:sp>
      <p:sp>
        <p:nvSpPr>
          <p:cNvPr id="27" name="Text 23"/>
          <p:cNvSpPr/>
          <p:nvPr/>
        </p:nvSpPr>
        <p:spPr>
          <a:xfrm>
            <a:off x="6126938" y="2900446"/>
            <a:ext cx="2359837"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Inconsistent Alignment</a:t>
            </a:r>
            <a:endParaRPr lang="en-US" sz="784" dirty="0"/>
          </a:p>
        </p:txBody>
      </p:sp>
      <p:sp>
        <p:nvSpPr>
          <p:cNvPr id="28" name="Text 24"/>
          <p:cNvSpPr/>
          <p:nvPr/>
        </p:nvSpPr>
        <p:spPr>
          <a:xfrm>
            <a:off x="6126938" y="3098685"/>
            <a:ext cx="2359837"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E0E0E0"/>
                </a:solidFill>
              </a:rPr>
              <a:t>Elements without a grid or consistent layout cause misalignment</a:t>
            </a:r>
            <a:endParaRPr lang="en-US" sz="674" dirty="0"/>
          </a:p>
        </p:txBody>
      </p:sp>
      <p:sp>
        <p:nvSpPr>
          <p:cNvPr id="29" name="Text 25"/>
          <p:cNvSpPr/>
          <p:nvPr/>
        </p:nvSpPr>
        <p:spPr>
          <a:xfrm>
            <a:off x="6126938" y="3401569"/>
            <a:ext cx="2359837" cy="155711"/>
          </a:xfrm>
          <a:prstGeom prst="rect">
            <a:avLst/>
          </a:prstGeom>
          <a:noFill/>
          <a:ln/>
        </p:spPr>
        <p:txBody>
          <a:bodyPr wrap="none" lIns="0" tIns="34036" rIns="0" bIns="0" rtlCol="0" anchor="t">
            <a:spAutoFit/>
          </a:bodyPr>
          <a:lstStyle/>
          <a:p>
            <a:pPr algn="l" indent="0" marL="0">
              <a:lnSpc>
                <a:spcPts val="900"/>
              </a:lnSpc>
              <a:buNone/>
            </a:pPr>
            <a:r>
              <a:rPr lang="en-US" sz="621" dirty="0">
                <a:solidFill>
                  <a:srgbClr val="22D3EE"/>
                </a:solidFill>
              </a:rPr>
              <a:t>✓ Use CSS Grid or Flexbox consistently</a:t>
            </a:r>
            <a:endParaRPr lang="en-US" sz="621" dirty="0"/>
          </a:p>
        </p:txBody>
      </p:sp>
      <p:sp>
        <p:nvSpPr>
          <p:cNvPr id="30" name="Text 26"/>
          <p:cNvSpPr/>
          <p:nvPr/>
        </p:nvSpPr>
        <p:spPr>
          <a:xfrm>
            <a:off x="678656" y="4006779"/>
            <a:ext cx="2359809" cy="116086"/>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22D3EE"/>
                </a:solidFill>
              </a:rPr>
              <a:t>Pitfall 7</a:t>
            </a:r>
            <a:endParaRPr lang="en-US" sz="584" dirty="0"/>
          </a:p>
        </p:txBody>
      </p:sp>
      <p:sp>
        <p:nvSpPr>
          <p:cNvPr id="31" name="Text 27"/>
          <p:cNvSpPr/>
          <p:nvPr/>
        </p:nvSpPr>
        <p:spPr>
          <a:xfrm>
            <a:off x="678656" y="4165727"/>
            <a:ext cx="23598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Unclear Visual Hierarchy</a:t>
            </a:r>
            <a:endParaRPr lang="en-US" sz="784" dirty="0"/>
          </a:p>
        </p:txBody>
      </p:sp>
      <p:sp>
        <p:nvSpPr>
          <p:cNvPr id="32" name="Text 28"/>
          <p:cNvSpPr/>
          <p:nvPr/>
        </p:nvSpPr>
        <p:spPr>
          <a:xfrm>
            <a:off x="678656" y="4363966"/>
            <a:ext cx="2359809"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E0E0E0"/>
                </a:solidFill>
              </a:rPr>
              <a:t>All text appearing equal makes it unclear where to look first</a:t>
            </a:r>
            <a:endParaRPr lang="en-US" sz="674" dirty="0"/>
          </a:p>
        </p:txBody>
      </p:sp>
      <p:sp>
        <p:nvSpPr>
          <p:cNvPr id="33" name="Text 29"/>
          <p:cNvSpPr/>
          <p:nvPr/>
        </p:nvSpPr>
        <p:spPr>
          <a:xfrm>
            <a:off x="678656" y="4666850"/>
            <a:ext cx="2359809" cy="155711"/>
          </a:xfrm>
          <a:prstGeom prst="rect">
            <a:avLst/>
          </a:prstGeom>
          <a:noFill/>
          <a:ln/>
        </p:spPr>
        <p:txBody>
          <a:bodyPr wrap="none" lIns="0" tIns="34036" rIns="0" bIns="0" rtlCol="0" anchor="t">
            <a:spAutoFit/>
          </a:bodyPr>
          <a:lstStyle/>
          <a:p>
            <a:pPr algn="l" indent="0" marL="0">
              <a:lnSpc>
                <a:spcPts val="900"/>
              </a:lnSpc>
              <a:buNone/>
            </a:pPr>
            <a:r>
              <a:rPr lang="en-US" sz="621" dirty="0">
                <a:solidFill>
                  <a:srgbClr val="22D3EE"/>
                </a:solidFill>
              </a:rPr>
              <a:t>✓ Use size, weight, and spacing for clear hierarchy</a:t>
            </a:r>
            <a:endParaRPr lang="en-US" sz="62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2026-01-01T12:51:48Z</dcterms:created>
  <dcterms:modified xsi:type="dcterms:W3CDTF">2026-01-01T12:51:48Z</dcterms:modified>
</cp:coreProperties>
</file>