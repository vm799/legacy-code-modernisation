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here to talk about transforming how we manage our technology estate. The core idea is simple: we must stop treating legacy estate management as a reactive burden and start industrialising it. This is about moving from bespoke, one-off projects to a high-throughput engine. We call this the Modernisation Factory. It’s a framework designed to systematically reduce risk and technical debt at scale, turning a liability into a managed asset. We need to shift our mindset from simply maintaining the past to actively engineering the future. This factory approach gives us the control and predictability we desperately need in our digital evolution. It ensures that every pound we spend on modernisation is targeted, efficient, and delivers measurable business value. But before we discuss the solution, we must first confront the problem that makes this factory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we face is the Legacy Tax. This is the hidden, insidious cost of technical debt that quietly drains our resources and stifles innovation. Look at how our budget is allocated: the vast majority goes simply to keeping the lights on, maintaining existing systems. This maintenance spend is not an investment; it is a tax we pay for past architectural decisions and deferred maintenance. It’s a zero-sum game where every pound spent on upkeep is a pound not spent on building new, competitive capabilities. This imbalance is fundamentally unsustainable for a business that needs to move with speed and agility. We are effectively paying a premium just to stand still, and that premium is growing every year. We need to reverse this trend and free up capital for genuine innovation. So, what exactly is driving this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Legacy Tax is driven by the harsh reality of our current technology estate. This reality is a velocity killer, slowing down every initiative we launch. We are plagued by undocumented systems where critical business logic is held hostage by tribal knowledge, residing only in the minds of a few long-serving colleagues. This creates massive key-person risk. Furthermore, our monolithic architectures mean that even the smallest change requires disproportionate effort and carries huge risk of cascading failure. And finally, we have dead libraries and unsupported dependencies, which are ticking time bombs for security and compliance. We cannot continue to operate with this level of inherent risk and inefficiency. We need a systematic way to tackle this complexity head-on. This is precisely why we need a factory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Factory Framework is our answer to the chaos of the legacy estate. Instead of treating every application as a unique, artisanal problem requiring a bespoke team, we establish a unified, industrialised process. This framework standardises the entire modernisation journey. It begins with a wide intake funnel, ensuring we capture all applications for assessment. We then move to automated discovery and triage, which intelligently classifies each application based on its technical state and business value. Finally, we route them through streamlined assembly lines, which are pre-defined, repeatable processes for modernisation. This systematic approach brings predictability, efficiency, and scale to what has historically been a highly unpredictable and costly exercise. And it all starts with the intake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in the factory is Intake, which we call the Digital X-Ray. This is where we apply automated, non-invasive discovery tools to map the entire application landscape. We use AI-driven static analysis and techniques like eBPF to create a complete dependency map, identifying all internal and external connections, data flows, and integration points without needing to interview the original developers. This allows us to generate a comprehensive Technical Health Score, giving us an objective measure of code quality, security posture, and architectural complexity. Crucially, we combine this with Business Value Analysis and Risk Assessment to quantify the application's strategic importance and its immediate liabilities. This X-Ray provides the data-driven foundation for all subsequent decisions. Once we have this clear picture, we can move to the Triage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Triage Engine is where the raw data from our Digital X-Ray is converted into a clear, actionable strategy for every single application. This process ensures we apply the right level of investment and effort to the right assets, avoiding the common mistake of treating every legacy system the same way. We use the established 6 R's framework to classify each application, moving from the simplest option—Retire—to the most complex—Rearchitect. This intelligent classification is the core mechanism that industrialises our approach. It forces a disciplined decision-making process based on objective data like technical health and business value, rather than subjective opinion. For instance, Retain and Rehost are quick wins that reduce immediate risk and cost, while Refactor and Rearchitect are reserved for high-value strategic assets that will drive future growth. This systematic triage ensures that resources are never wasted on systems that should simply be switched off. Now that we've classified the applications, we can look at the three main Assembly Lines that execute these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Assembly Line A, Encapsulation, is our strategy for dealing with those stable, mission-critical legacy systems that simply cannot be touched without massive risk. We treat the legacy code as a black box, wrapping it in modern interfaces to integrate it into our new ecosystem. The key here is the Anti-Corruption Layer; this isn't just a simple bridge. It actively protects our modern services from the archaic data models and protocols of the legacy system, preventing technical debt from leaking into the new architecture. We use API Gateways to provide a clean, modern interface for consumers, abstracting away the complexity of the backend. Crucially, Sidecar Services allow us to bolt on modern capabilities like observability and security without ever modifying the original, fragile code. This approach delivers immediate integration and risk reduction without the cost or danger of a full rewrite. For those applications that require deeper modernisation, we move to Assembly Line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Assembly Line B focuses on Refactoring, which is where we systematically improve the internal structure of an application without changing its external behaviour. We're leveraging automated tools here to drive speed and consistency, particularly with Automated Code Translation to move off unsupported languages and onto modern equivalents. This is not a manual effort; it's an industrial process. Library Modernisation is another critical component, ensuring we replace deprecated dependencies with supported, secure alternatives, which immediately addresses a huge chunk of our security exposure. The Strangler Fig Pattern is the methodology that governs this work, allowing us to incrementally replace functionality piece by piece. This guarantees zero-downtime cutovers and ensures we maintain business continuity throughout the entire process. This line is about surgical, automated improvement, but some assets require a more fundamental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Assembly Line C, Rebuild, is reserved for our highest-value strategic assets—the systems that will define our future competitive advantage. This is a complete rearchitecture, moving away from the constraints of the past and building for the future. We employ Domain-Driven Design to ensure the new architecture perfectly models our core business domains, resulting in systems that are inherently more maintainable and evolvable. This is coupled with an Event-Driven Architecture, which creates highly decoupled, resilient, and scalable services that can react instantly to business events. Finally, we enforce a clean abstraction of the data layer, ensuring our business logic is entirely separate from the persistence technology. This gives us the flexibility to swap out databases or storage solutions without impacting the core application. Once an application has been through any of these three Assembly Lines, it must pass through our final gate: Quality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discussed the assembly lines, but none of that work matters if we don't have a rigorous quality gate. Quality Control isn't an afterthought here; it's the final, non-negotiable stage of industrialisation. We ensure functional parity and security by treating every application like a product leaving a factory floor. This means moving beyond manual checks and embedding automated testing into the very fabric of the process. We use comprehensive automated testing—unit, integration, and end-to-end—to guarantee that the modernised application behaves exactly as the legacy system did, but better. Furthermore, security is continuous, not a one-off audit. We run static code analysis and dependency checks throughout the pipeline, ensuring we aren't simply trading technical debt for security debt. Finally, we instrument everything for SRE observability before deployment. This means full distributed tracing and metrics, so we can monitor performance and quickly respond to incidents once the application is live. This rigorous approach is how we de-risk the entire modernisation effort. Now, let's look at why this industrialised approach is worth the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industrialised approach transforms technical debt from a growing liability into a managed, continuously improving asset. The return on investment here isn't just about saving money; it's about unlocking strategic value across the business. The most immediate impact is on velocity. By standardising our architectures and removing complexity, we dramatically accelerate our feature delivery cycles. Our teams can focus on innovation, not on navigating undocumented, brittle legacy code. Secondly, we achieve significant cost reduction. Automation and the move to cloud-native infrastructure slash our maintenance costs, freeing up capital that can be reinvested into strategic initiatives. Perhaps most critically, this improves talent retention. Our best engineers want to work on modern, well-architected systems, not wrestle with monolithic codebases. By giving them a modern tech stack and a clear framework, we reduce turnover and build a high-calibre internal capability. This shift from maintenance to innovation is the true ROI. So, how do we start capturing this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way to prove the framework's effectiveness and build internal capability is to start small and move quickly with a focused pilot programme. We aren't proposing a multi-year, big-bang transformation; we're suggesting a targeted, 90-day pilot. We begin by selecting three applications that represent different levels of complexity and business criticality. This ensures we test the full range of our assembly lines. Over the next two weeks, we run the automated discovery and triage, mapping dependencies and assigning the optimal modernisation pathway for each application. The core execution phase takes about six weeks, where we apply the appropriate assembly line—Encapsulation, Refactor, or Rebuild—with continuous quality checks. The final two weeks are dedicated to validation, production deployment, and measuring the success metrics we agreed upon upfront. This pilot gives us the data, the confidence, and the operational blueprint to scale the Modernisation Factory across the entire estate. The time to stop paying the legacy tax is now. Let's start the pilot programme and transform our legacy estate into a strategic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572000" y="0"/>
            <a:ext cx="21431" cy="5143500"/>
          </a:xfrm>
          <a:prstGeom prst="rect">
            <a:avLst/>
          </a:prstGeom>
          <a:solidFill>
            <a:srgbClr val="8B5CF6">
              <a:alpha val="30000"/>
            </a:srgbClr>
          </a:solidFill>
          <a:ln/>
        </p:spPr>
      </p:sp>
      <p:sp>
        <p:nvSpPr>
          <p:cNvPr id="5" name="Text 1"/>
          <p:cNvSpPr/>
          <p:nvPr/>
        </p:nvSpPr>
        <p:spPr>
          <a:xfrm>
            <a:off x="428625" y="2074562"/>
            <a:ext cx="3929063" cy="1508727"/>
          </a:xfrm>
          <a:prstGeom prst="rect">
            <a:avLst/>
          </a:prstGeom>
          <a:noFill/>
          <a:ln/>
        </p:spPr>
        <p:txBody>
          <a:bodyPr wrap="square" lIns="0" tIns="0" rIns="0" bIns="0" rtlCol="0" anchor="t">
            <a:spAutoFit/>
          </a:bodyPr>
          <a:lstStyle/>
          <a:p>
            <a:pPr algn="l" indent="0" marL="0">
              <a:lnSpc>
                <a:spcPts val="4000"/>
              </a:lnSpc>
              <a:buNone/>
            </a:pPr>
            <a:r>
              <a:rPr lang="en-US" sz="3294" b="1" spc="-1" kern="0" dirty="0">
                <a:solidFill>
                  <a:srgbClr val="FFFFFF"/>
                </a:solidFill>
              </a:rPr>
              <a:t>The Modernisation Factory</a:t>
            </a:r>
            <a:endParaRPr lang="en-US" sz="3294" dirty="0"/>
          </a:p>
        </p:txBody>
      </p:sp>
      <p:sp>
        <p:nvSpPr>
          <p:cNvPr id="6" name="Text 2"/>
          <p:cNvSpPr/>
          <p:nvPr/>
        </p:nvSpPr>
        <p:spPr>
          <a:xfrm>
            <a:off x="4786313" y="2075259"/>
            <a:ext cx="3929063"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22D3EE"/>
                </a:solidFill>
              </a:rPr>
              <a:t>Industrialising Digital Evolution</a:t>
            </a:r>
            <a:endParaRPr lang="en-US" sz="683" dirty="0"/>
          </a:p>
        </p:txBody>
      </p:sp>
      <p:sp>
        <p:nvSpPr>
          <p:cNvPr id="7" name="Text 3"/>
          <p:cNvSpPr/>
          <p:nvPr/>
        </p:nvSpPr>
        <p:spPr>
          <a:xfrm>
            <a:off x="4786313" y="2382441"/>
            <a:ext cx="3571875"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0E0E0"/>
                </a:solidFill>
              </a:rPr>
              <a:t>Transform legacy estate management from a reactive burden into a high-throughput engine that reduces risk and technical debt at scale.</a:t>
            </a:r>
            <a:endParaRPr lang="en-US" sz="1050" dirty="0"/>
          </a:p>
        </p:txBody>
      </p:sp>
      <p:sp>
        <p:nvSpPr>
          <p:cNvPr id="8" name="Text 4"/>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01</a:t>
            </a:r>
            <a:endParaRPr lang="en-US" sz="1543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1998631"/>
            <a:ext cx="3643313"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The Cost of Inaction</a:t>
            </a:r>
            <a:endParaRPr lang="en-US" sz="584" dirty="0"/>
          </a:p>
        </p:txBody>
      </p:sp>
      <p:sp>
        <p:nvSpPr>
          <p:cNvPr id="5" name="Text 1"/>
          <p:cNvSpPr/>
          <p:nvPr/>
        </p:nvSpPr>
        <p:spPr>
          <a:xfrm>
            <a:off x="714375" y="2286167"/>
            <a:ext cx="3643313" cy="480054"/>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FFFFFF"/>
                </a:solidFill>
              </a:rPr>
              <a:t>The Legacy Tax</a:t>
            </a:r>
            <a:endParaRPr lang="en-US" sz="2862" dirty="0"/>
          </a:p>
        </p:txBody>
      </p:sp>
      <p:sp>
        <p:nvSpPr>
          <p:cNvPr id="6" name="Text 2"/>
          <p:cNvSpPr/>
          <p:nvPr/>
        </p:nvSpPr>
        <p:spPr>
          <a:xfrm>
            <a:off x="714375" y="2994822"/>
            <a:ext cx="3643313" cy="971550"/>
          </a:xfrm>
          <a:prstGeom prst="rect">
            <a:avLst/>
          </a:prstGeom>
          <a:noFill/>
          <a:ln/>
        </p:spPr>
        <p:txBody>
          <a:bodyPr wrap="square" lIns="0" tIns="0" rIns="0" bIns="0" rtlCol="0" anchor="t">
            <a:spAutoFit/>
          </a:bodyPr>
          <a:lstStyle/>
          <a:p>
            <a:pPr algn="l" indent="0" marL="0">
              <a:lnSpc>
                <a:spcPts val="1900"/>
              </a:lnSpc>
              <a:buNone/>
            </a:pPr>
            <a:r>
              <a:rPr lang="en-US" sz="1050" dirty="0">
                <a:solidFill>
                  <a:srgbClr val="E0E0E0"/>
                </a:solidFill>
              </a:rPr>
              <a:t>Organisations spend the majority of their technology budget maintaining existing systems rather than building new capabilities. This is the hidden tax of technical debt.</a:t>
            </a:r>
            <a:endParaRPr lang="en-US" sz="1050" dirty="0"/>
          </a:p>
        </p:txBody>
      </p:sp>
      <p:sp>
        <p:nvSpPr>
          <p:cNvPr id="7" name="Text 3"/>
          <p:cNvSpPr/>
          <p:nvPr/>
        </p:nvSpPr>
        <p:spPr>
          <a:xfrm>
            <a:off x="4786313" y="2608334"/>
            <a:ext cx="3643313"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E0E0E0"/>
                </a:solidFill>
              </a:rPr>
              <a:t>IT Budget Allocation</a:t>
            </a:r>
            <a:endParaRPr lang="en-US" sz="634" dirty="0"/>
          </a:p>
        </p:txBody>
      </p:sp>
      <p:sp>
        <p:nvSpPr>
          <p:cNvPr id="8" name="Shape 4"/>
          <p:cNvSpPr/>
          <p:nvPr/>
        </p:nvSpPr>
        <p:spPr>
          <a:xfrm>
            <a:off x="4786313" y="2820860"/>
            <a:ext cx="3643313" cy="285750"/>
          </a:xfrm>
          <a:prstGeom prst="rect">
            <a:avLst/>
          </a:prstGeom>
          <a:solidFill>
            <a:srgbClr val="1A1A1A"/>
          </a:solidFill>
          <a:ln w="9144">
            <a:solidFill>
              <a:srgbClr val="22D3EE"/>
            </a:solidFill>
            <a:prstDash val="solid"/>
          </a:ln>
        </p:spPr>
      </p:sp>
      <p:sp>
        <p:nvSpPr>
          <p:cNvPr id="9" name="Shape 5"/>
          <p:cNvSpPr/>
          <p:nvPr/>
        </p:nvSpPr>
        <p:spPr>
          <a:xfrm>
            <a:off x="4786313" y="2820860"/>
            <a:ext cx="2732484" cy="285750"/>
          </a:xfrm>
          <a:prstGeom prst="rect">
            <a:avLst/>
          </a:prstGeom>
          <a:solidFill>
            <a:srgbClr val="22D3EE"/>
          </a:solidFill>
          <a:ln/>
        </p:spPr>
      </p:sp>
      <p:sp>
        <p:nvSpPr>
          <p:cNvPr id="10" name="Text 6"/>
          <p:cNvSpPr/>
          <p:nvPr/>
        </p:nvSpPr>
        <p:spPr>
          <a:xfrm>
            <a:off x="4786313" y="2820860"/>
            <a:ext cx="2732484" cy="2857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121212"/>
                </a:solidFill>
              </a:rPr>
              <a:t>Maintenance</a:t>
            </a:r>
            <a:endParaRPr lang="en-US" sz="584" dirty="0"/>
          </a:p>
        </p:txBody>
      </p:sp>
      <p:sp>
        <p:nvSpPr>
          <p:cNvPr id="11" name="Shape 7"/>
          <p:cNvSpPr/>
          <p:nvPr/>
        </p:nvSpPr>
        <p:spPr>
          <a:xfrm>
            <a:off x="7518797" y="2820860"/>
            <a:ext cx="910828" cy="285750"/>
          </a:xfrm>
          <a:prstGeom prst="rect">
            <a:avLst/>
          </a:prstGeom>
          <a:solidFill>
            <a:srgbClr val="22D3EE">
              <a:alpha val="20000"/>
            </a:srgbClr>
          </a:solidFill>
          <a:ln/>
        </p:spPr>
      </p:sp>
      <p:sp>
        <p:nvSpPr>
          <p:cNvPr id="12" name="Text 8"/>
          <p:cNvSpPr/>
          <p:nvPr/>
        </p:nvSpPr>
        <p:spPr>
          <a:xfrm>
            <a:off x="7518797" y="2820860"/>
            <a:ext cx="910828" cy="2857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22D3EE"/>
                </a:solidFill>
              </a:rPr>
              <a:t>Innovation</a:t>
            </a:r>
            <a:endParaRPr lang="en-US" sz="584" dirty="0"/>
          </a:p>
        </p:txBody>
      </p:sp>
      <p:sp>
        <p:nvSpPr>
          <p:cNvPr id="13" name="Text 9"/>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02</a:t>
            </a:r>
            <a:endParaRPr lang="en-US" sz="1543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The Velocity Killer</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Reality of the Estate</a:t>
            </a:r>
            <a:endParaRPr lang="en-US" sz="2436" dirty="0"/>
          </a:p>
        </p:txBody>
      </p:sp>
      <p:sp>
        <p:nvSpPr>
          <p:cNvPr id="6" name="Text 2"/>
          <p:cNvSpPr/>
          <p:nvPr/>
        </p:nvSpPr>
        <p:spPr>
          <a:xfrm>
            <a:off x="764381" y="1756274"/>
            <a:ext cx="36647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Undocumented Systems</a:t>
            </a:r>
            <a:endParaRPr lang="en-US" sz="987" dirty="0"/>
          </a:p>
        </p:txBody>
      </p:sp>
      <p:sp>
        <p:nvSpPr>
          <p:cNvPr id="7" name="Text 3"/>
          <p:cNvSpPr/>
          <p:nvPr/>
        </p:nvSpPr>
        <p:spPr>
          <a:xfrm>
            <a:off x="764381" y="2036666"/>
            <a:ext cx="3664744"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Critical business logic exists only in the minds of developers who may no longer be with the organisation.</a:t>
            </a:r>
            <a:endParaRPr lang="en-US" sz="834" dirty="0"/>
          </a:p>
        </p:txBody>
      </p:sp>
      <p:sp>
        <p:nvSpPr>
          <p:cNvPr id="8" name="Text 4"/>
          <p:cNvSpPr/>
          <p:nvPr/>
        </p:nvSpPr>
        <p:spPr>
          <a:xfrm>
            <a:off x="4907756" y="1756274"/>
            <a:ext cx="36647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Monolithic Architecture</a:t>
            </a:r>
            <a:endParaRPr lang="en-US" sz="987" dirty="0"/>
          </a:p>
        </p:txBody>
      </p:sp>
      <p:sp>
        <p:nvSpPr>
          <p:cNvPr id="9" name="Text 5"/>
          <p:cNvSpPr/>
          <p:nvPr/>
        </p:nvSpPr>
        <p:spPr>
          <a:xfrm>
            <a:off x="4907756" y="2036666"/>
            <a:ext cx="3664744"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Tightly coupled systems where a single change can cascade into unexpected failures across the entire platform.</a:t>
            </a:r>
            <a:endParaRPr lang="en-US" sz="834" dirty="0"/>
          </a:p>
        </p:txBody>
      </p:sp>
      <p:sp>
        <p:nvSpPr>
          <p:cNvPr id="10" name="Text 6"/>
          <p:cNvSpPr/>
          <p:nvPr/>
        </p:nvSpPr>
        <p:spPr>
          <a:xfrm>
            <a:off x="764381" y="3764198"/>
            <a:ext cx="36647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Dead Libraries</a:t>
            </a:r>
            <a:endParaRPr lang="en-US" sz="987" dirty="0"/>
          </a:p>
        </p:txBody>
      </p:sp>
      <p:sp>
        <p:nvSpPr>
          <p:cNvPr id="11" name="Text 7"/>
          <p:cNvSpPr/>
          <p:nvPr/>
        </p:nvSpPr>
        <p:spPr>
          <a:xfrm>
            <a:off x="764381" y="4044590"/>
            <a:ext cx="3664744"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Dependencies on unsupported frameworks and libraries that create security vulnerabilities and compatibility issues.</a:t>
            </a:r>
            <a:endParaRPr lang="en-US" sz="834" dirty="0"/>
          </a:p>
        </p:txBody>
      </p:sp>
      <p:sp>
        <p:nvSpPr>
          <p:cNvPr id="12" name="Text 8"/>
          <p:cNvSpPr/>
          <p:nvPr/>
        </p:nvSpPr>
        <p:spPr>
          <a:xfrm>
            <a:off x="4907756" y="3764198"/>
            <a:ext cx="36647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Tribal Knowledge</a:t>
            </a:r>
            <a:endParaRPr lang="en-US" sz="987" dirty="0"/>
          </a:p>
        </p:txBody>
      </p:sp>
      <p:sp>
        <p:nvSpPr>
          <p:cNvPr id="13" name="Text 9"/>
          <p:cNvSpPr/>
          <p:nvPr/>
        </p:nvSpPr>
        <p:spPr>
          <a:xfrm>
            <a:off x="4907756" y="4044590"/>
            <a:ext cx="3664744"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Operational procedures that exist nowhere in documentation, making maintenance risky and training nearly impossible.</a:t>
            </a:r>
            <a:endParaRPr lang="en-US" sz="834" dirty="0"/>
          </a:p>
        </p:txBody>
      </p:sp>
      <p:sp>
        <p:nvSpPr>
          <p:cNvPr id="14" name="Text 10"/>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03</a:t>
            </a:r>
            <a:endParaRPr lang="en-US" sz="1543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69883"/>
          </a:xfrm>
          <a:prstGeom prst="rect">
            <a:avLst/>
          </a:prstGeom>
        </p:spPr>
      </p:pic>
      <p:sp>
        <p:nvSpPr>
          <p:cNvPr id="4" name="Text 0"/>
          <p:cNvSpPr/>
          <p:nvPr/>
        </p:nvSpPr>
        <p:spPr>
          <a:xfrm>
            <a:off x="714375" y="428625"/>
            <a:ext cx="771525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A Unified Approach</a:t>
            </a:r>
            <a:endParaRPr lang="en-US" sz="584" dirty="0"/>
          </a:p>
        </p:txBody>
      </p:sp>
      <p:sp>
        <p:nvSpPr>
          <p:cNvPr id="5" name="Text 1"/>
          <p:cNvSpPr/>
          <p:nvPr/>
        </p:nvSpPr>
        <p:spPr>
          <a:xfrm>
            <a:off x="714375" y="659011"/>
            <a:ext cx="771525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Factory Framework</a:t>
            </a:r>
            <a:endParaRPr lang="en-US" sz="2436" dirty="0"/>
          </a:p>
        </p:txBody>
      </p:sp>
      <p:sp>
        <p:nvSpPr>
          <p:cNvPr id="6" name="Text 2"/>
          <p:cNvSpPr/>
          <p:nvPr/>
        </p:nvSpPr>
        <p:spPr>
          <a:xfrm>
            <a:off x="714375" y="1527674"/>
            <a:ext cx="642937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rPr>
              <a:t>Rather than treating each legacy application as a unique problem, the Modernisation Factory establishes a unified intake funnel that systematically processes applications through standardised pathways.</a:t>
            </a:r>
            <a:endParaRPr lang="en-US" sz="942" dirty="0"/>
          </a:p>
        </p:txBody>
      </p:sp>
      <p:sp>
        <p:nvSpPr>
          <p:cNvPr id="7" name="Shape 3"/>
          <p:cNvSpPr/>
          <p:nvPr/>
        </p:nvSpPr>
        <p:spPr>
          <a:xfrm>
            <a:off x="2071688" y="2367735"/>
            <a:ext cx="5000625" cy="662583"/>
          </a:xfrm>
          <a:prstGeom prst="rect">
            <a:avLst/>
          </a:prstGeom>
          <a:solidFill>
            <a:srgbClr val="8B5CF6">
              <a:alpha val="5000"/>
            </a:srgbClr>
          </a:solidFill>
          <a:ln w="18288">
            <a:solidFill>
              <a:srgbClr val="22D3EE"/>
            </a:solidFill>
            <a:prstDash val="solid"/>
          </a:ln>
        </p:spPr>
      </p:sp>
      <p:sp>
        <p:nvSpPr>
          <p:cNvPr id="8" name="Text 4"/>
          <p:cNvSpPr/>
          <p:nvPr/>
        </p:nvSpPr>
        <p:spPr>
          <a:xfrm>
            <a:off x="2243138" y="2510610"/>
            <a:ext cx="4657725" cy="116086"/>
          </a:xfrm>
          <a:prstGeom prst="rect">
            <a:avLst/>
          </a:prstGeom>
          <a:noFill/>
          <a:ln/>
        </p:spPr>
        <p:txBody>
          <a:bodyPr wrap="none" lIns="0" tIns="0" rIns="0" bIns="0" rtlCol="0" anchor="t">
            <a:spAutoFit/>
          </a:bodyPr>
          <a:lstStyle/>
          <a:p>
            <a:pPr algn="ctr" indent="0" marL="0">
              <a:lnSpc>
                <a:spcPts val="800"/>
              </a:lnSpc>
              <a:buNone/>
            </a:pPr>
            <a:r>
              <a:rPr lang="en-US" sz="584" b="1" spc="1" kern="0" dirty="0">
                <a:solidFill>
                  <a:srgbClr val="22D3EE"/>
                </a:solidFill>
              </a:rPr>
              <a:t>Step 1</a:t>
            </a:r>
            <a:endParaRPr lang="en-US" sz="584" dirty="0"/>
          </a:p>
        </p:txBody>
      </p:sp>
      <p:sp>
        <p:nvSpPr>
          <p:cNvPr id="9" name="Text 5"/>
          <p:cNvSpPr/>
          <p:nvPr/>
        </p:nvSpPr>
        <p:spPr>
          <a:xfrm>
            <a:off x="2243138" y="2683845"/>
            <a:ext cx="4657725" cy="175022"/>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FFFFFF"/>
                </a:solidFill>
              </a:rPr>
              <a:t>Wide Intake Funnel</a:t>
            </a:r>
            <a:endParaRPr lang="en-US" sz="885" dirty="0"/>
          </a:p>
        </p:txBody>
      </p:sp>
      <p:sp>
        <p:nvSpPr>
          <p:cNvPr id="10" name="Shape 6"/>
          <p:cNvSpPr/>
          <p:nvPr/>
        </p:nvSpPr>
        <p:spPr>
          <a:xfrm>
            <a:off x="2607469" y="3458942"/>
            <a:ext cx="3929063" cy="662583"/>
          </a:xfrm>
          <a:prstGeom prst="rect">
            <a:avLst/>
          </a:prstGeom>
          <a:solidFill>
            <a:srgbClr val="8B5CF6">
              <a:alpha val="5000"/>
            </a:srgbClr>
          </a:solidFill>
          <a:ln w="18288">
            <a:solidFill>
              <a:srgbClr val="22D3EE"/>
            </a:solidFill>
            <a:prstDash val="solid"/>
          </a:ln>
        </p:spPr>
      </p:sp>
      <p:sp>
        <p:nvSpPr>
          <p:cNvPr id="11" name="Text 7"/>
          <p:cNvSpPr/>
          <p:nvPr/>
        </p:nvSpPr>
        <p:spPr>
          <a:xfrm>
            <a:off x="2778919" y="3601817"/>
            <a:ext cx="3586163" cy="116086"/>
          </a:xfrm>
          <a:prstGeom prst="rect">
            <a:avLst/>
          </a:prstGeom>
          <a:noFill/>
          <a:ln/>
        </p:spPr>
        <p:txBody>
          <a:bodyPr wrap="none" lIns="0" tIns="0" rIns="0" bIns="0" rtlCol="0" anchor="t">
            <a:spAutoFit/>
          </a:bodyPr>
          <a:lstStyle/>
          <a:p>
            <a:pPr algn="ctr" indent="0" marL="0">
              <a:lnSpc>
                <a:spcPts val="800"/>
              </a:lnSpc>
              <a:buNone/>
            </a:pPr>
            <a:r>
              <a:rPr lang="en-US" sz="584" b="1" spc="1" kern="0" dirty="0">
                <a:solidFill>
                  <a:srgbClr val="22D3EE"/>
                </a:solidFill>
              </a:rPr>
              <a:t>Step 2</a:t>
            </a:r>
            <a:endParaRPr lang="en-US" sz="584" dirty="0"/>
          </a:p>
        </p:txBody>
      </p:sp>
      <p:sp>
        <p:nvSpPr>
          <p:cNvPr id="12" name="Text 8"/>
          <p:cNvSpPr/>
          <p:nvPr/>
        </p:nvSpPr>
        <p:spPr>
          <a:xfrm>
            <a:off x="2778919" y="3775053"/>
            <a:ext cx="3586163" cy="175022"/>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FFFFFF"/>
                </a:solidFill>
              </a:rPr>
              <a:t>Automated Discovery &amp; Triage</a:t>
            </a:r>
            <a:endParaRPr lang="en-US" sz="885" dirty="0"/>
          </a:p>
        </p:txBody>
      </p:sp>
      <p:sp>
        <p:nvSpPr>
          <p:cNvPr id="13" name="Shape 9"/>
          <p:cNvSpPr/>
          <p:nvPr/>
        </p:nvSpPr>
        <p:spPr>
          <a:xfrm>
            <a:off x="3143250" y="4550150"/>
            <a:ext cx="2857500" cy="662583"/>
          </a:xfrm>
          <a:prstGeom prst="rect">
            <a:avLst/>
          </a:prstGeom>
          <a:solidFill>
            <a:srgbClr val="8B5CF6">
              <a:alpha val="5000"/>
            </a:srgbClr>
          </a:solidFill>
          <a:ln w="18288">
            <a:solidFill>
              <a:srgbClr val="22D3EE"/>
            </a:solidFill>
            <a:prstDash val="solid"/>
          </a:ln>
        </p:spPr>
      </p:sp>
      <p:sp>
        <p:nvSpPr>
          <p:cNvPr id="14" name="Text 10"/>
          <p:cNvSpPr/>
          <p:nvPr/>
        </p:nvSpPr>
        <p:spPr>
          <a:xfrm>
            <a:off x="3314700" y="4693025"/>
            <a:ext cx="2514600" cy="116086"/>
          </a:xfrm>
          <a:prstGeom prst="rect">
            <a:avLst/>
          </a:prstGeom>
          <a:noFill/>
          <a:ln/>
        </p:spPr>
        <p:txBody>
          <a:bodyPr wrap="none" lIns="0" tIns="0" rIns="0" bIns="0" rtlCol="0" anchor="t">
            <a:spAutoFit/>
          </a:bodyPr>
          <a:lstStyle/>
          <a:p>
            <a:pPr algn="ctr" indent="0" marL="0">
              <a:lnSpc>
                <a:spcPts val="800"/>
              </a:lnSpc>
              <a:buNone/>
            </a:pPr>
            <a:r>
              <a:rPr lang="en-US" sz="584" b="1" spc="1" kern="0" dirty="0">
                <a:solidFill>
                  <a:srgbClr val="22D3EE"/>
                </a:solidFill>
              </a:rPr>
              <a:t>Step 3</a:t>
            </a:r>
            <a:endParaRPr lang="en-US" sz="584" dirty="0"/>
          </a:p>
        </p:txBody>
      </p:sp>
      <p:sp>
        <p:nvSpPr>
          <p:cNvPr id="15" name="Text 11"/>
          <p:cNvSpPr/>
          <p:nvPr/>
        </p:nvSpPr>
        <p:spPr>
          <a:xfrm>
            <a:off x="3314700" y="4866261"/>
            <a:ext cx="2514600" cy="175022"/>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FFFFFF"/>
                </a:solidFill>
              </a:rPr>
              <a:t>Streamlined Assembly Lines</a:t>
            </a:r>
            <a:endParaRPr lang="en-US" sz="885" dirty="0"/>
          </a:p>
        </p:txBody>
      </p:sp>
      <p:sp>
        <p:nvSpPr>
          <p:cNvPr id="16" name="Text 12"/>
          <p:cNvSpPr/>
          <p:nvPr/>
        </p:nvSpPr>
        <p:spPr>
          <a:xfrm>
            <a:off x="7288327" y="3555355"/>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04</a:t>
            </a:r>
            <a:endParaRPr lang="en-US" sz="1543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08101"/>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Automated Discovery</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Intake: The Digital X-Ray</a:t>
            </a:r>
            <a:endParaRPr lang="en-US" sz="2436" dirty="0"/>
          </a:p>
        </p:txBody>
      </p:sp>
      <p:sp>
        <p:nvSpPr>
          <p:cNvPr id="6" name="Text 2"/>
          <p:cNvSpPr/>
          <p:nvPr/>
        </p:nvSpPr>
        <p:spPr>
          <a:xfrm>
            <a:off x="571500" y="1470524"/>
            <a:ext cx="642937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Using AI-driven discovery tools and static analysis, we map the complete dependency network of each application without requiring input from original developers.</a:t>
            </a:r>
            <a:endParaRPr lang="en-US" sz="834" dirty="0"/>
          </a:p>
        </p:txBody>
      </p:sp>
      <p:sp>
        <p:nvSpPr>
          <p:cNvPr id="7" name="Shape 3"/>
          <p:cNvSpPr/>
          <p:nvPr/>
        </p:nvSpPr>
        <p:spPr>
          <a:xfrm>
            <a:off x="764381" y="2122001"/>
            <a:ext cx="228600" cy="228600"/>
          </a:xfrm>
          <a:prstGeom prst="ellipse">
            <a:avLst/>
          </a:prstGeom>
          <a:solidFill>
            <a:srgbClr val="8B5CF6"/>
          </a:solidFill>
          <a:ln/>
        </p:spPr>
      </p:sp>
      <p:sp>
        <p:nvSpPr>
          <p:cNvPr id="8" name="Text 4"/>
          <p:cNvSpPr/>
          <p:nvPr/>
        </p:nvSpPr>
        <p:spPr>
          <a:xfrm>
            <a:off x="764381" y="2122001"/>
            <a:ext cx="228600" cy="228600"/>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121212"/>
                </a:solidFill>
              </a:rPr>
              <a:t>1</a:t>
            </a:r>
            <a:endParaRPr lang="en-US" sz="683" dirty="0"/>
          </a:p>
        </p:txBody>
      </p:sp>
      <p:sp>
        <p:nvSpPr>
          <p:cNvPr id="9" name="Text 5"/>
          <p:cNvSpPr/>
          <p:nvPr/>
        </p:nvSpPr>
        <p:spPr>
          <a:xfrm>
            <a:off x="764381" y="2436326"/>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Dependency Mapping</a:t>
            </a:r>
            <a:endParaRPr lang="en-US" sz="885" dirty="0"/>
          </a:p>
        </p:txBody>
      </p:sp>
      <p:sp>
        <p:nvSpPr>
          <p:cNvPr id="10" name="Text 6"/>
          <p:cNvSpPr/>
          <p:nvPr/>
        </p:nvSpPr>
        <p:spPr>
          <a:xfrm>
            <a:off x="764381" y="2668498"/>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Leveraging eBPF and static analysis to identify all internal and external dependencies, data flows, and integration points.</a:t>
            </a:r>
            <a:endParaRPr lang="en-US" sz="780" dirty="0"/>
          </a:p>
        </p:txBody>
      </p:sp>
      <p:sp>
        <p:nvSpPr>
          <p:cNvPr id="11" name="Shape 7"/>
          <p:cNvSpPr/>
          <p:nvPr/>
        </p:nvSpPr>
        <p:spPr>
          <a:xfrm>
            <a:off x="764381" y="2914957"/>
            <a:ext cx="228600" cy="228600"/>
          </a:xfrm>
          <a:prstGeom prst="ellipse">
            <a:avLst/>
          </a:prstGeom>
          <a:solidFill>
            <a:srgbClr val="8B5CF6"/>
          </a:solidFill>
          <a:ln/>
        </p:spPr>
      </p:sp>
      <p:sp>
        <p:nvSpPr>
          <p:cNvPr id="12" name="Text 8"/>
          <p:cNvSpPr/>
          <p:nvPr/>
        </p:nvSpPr>
        <p:spPr>
          <a:xfrm>
            <a:off x="764381" y="2914957"/>
            <a:ext cx="228600" cy="228600"/>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121212"/>
                </a:solidFill>
              </a:rPr>
              <a:t>2</a:t>
            </a:r>
            <a:endParaRPr lang="en-US" sz="683" dirty="0"/>
          </a:p>
        </p:txBody>
      </p:sp>
      <p:sp>
        <p:nvSpPr>
          <p:cNvPr id="13" name="Text 9"/>
          <p:cNvSpPr/>
          <p:nvPr/>
        </p:nvSpPr>
        <p:spPr>
          <a:xfrm>
            <a:off x="764381" y="3229282"/>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Technical Health Score</a:t>
            </a:r>
            <a:endParaRPr lang="en-US" sz="885" dirty="0"/>
          </a:p>
        </p:txBody>
      </p:sp>
      <p:sp>
        <p:nvSpPr>
          <p:cNvPr id="14" name="Text 10"/>
          <p:cNvSpPr/>
          <p:nvPr/>
        </p:nvSpPr>
        <p:spPr>
          <a:xfrm>
            <a:off x="764381" y="3461454"/>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Automated assessment of code quality, security vulnerabilities, performance bottlenecks, and architectural complexity.</a:t>
            </a:r>
            <a:endParaRPr lang="en-US" sz="780" dirty="0"/>
          </a:p>
        </p:txBody>
      </p:sp>
      <p:sp>
        <p:nvSpPr>
          <p:cNvPr id="15" name="Shape 11"/>
          <p:cNvSpPr/>
          <p:nvPr/>
        </p:nvSpPr>
        <p:spPr>
          <a:xfrm>
            <a:off x="764381" y="3707913"/>
            <a:ext cx="228600" cy="228600"/>
          </a:xfrm>
          <a:prstGeom prst="ellipse">
            <a:avLst/>
          </a:prstGeom>
          <a:solidFill>
            <a:srgbClr val="8B5CF6"/>
          </a:solidFill>
          <a:ln/>
        </p:spPr>
      </p:sp>
      <p:sp>
        <p:nvSpPr>
          <p:cNvPr id="16" name="Text 12"/>
          <p:cNvSpPr/>
          <p:nvPr/>
        </p:nvSpPr>
        <p:spPr>
          <a:xfrm>
            <a:off x="764381" y="3707913"/>
            <a:ext cx="228600" cy="228600"/>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121212"/>
                </a:solidFill>
              </a:rPr>
              <a:t>3</a:t>
            </a:r>
            <a:endParaRPr lang="en-US" sz="683" dirty="0"/>
          </a:p>
        </p:txBody>
      </p:sp>
      <p:sp>
        <p:nvSpPr>
          <p:cNvPr id="17" name="Text 13"/>
          <p:cNvSpPr/>
          <p:nvPr/>
        </p:nvSpPr>
        <p:spPr>
          <a:xfrm>
            <a:off x="764381" y="4022238"/>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Business Value Analysis</a:t>
            </a:r>
            <a:endParaRPr lang="en-US" sz="885" dirty="0"/>
          </a:p>
        </p:txBody>
      </p:sp>
      <p:sp>
        <p:nvSpPr>
          <p:cNvPr id="18" name="Text 14"/>
          <p:cNvSpPr/>
          <p:nvPr/>
        </p:nvSpPr>
        <p:spPr>
          <a:xfrm>
            <a:off x="764381" y="4254410"/>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Quantifying the strategic importance of each application based on usage patterns, revenue impact, and operational criticality.</a:t>
            </a:r>
            <a:endParaRPr lang="en-US" sz="780" dirty="0"/>
          </a:p>
        </p:txBody>
      </p:sp>
      <p:sp>
        <p:nvSpPr>
          <p:cNvPr id="19" name="Shape 15"/>
          <p:cNvSpPr/>
          <p:nvPr/>
        </p:nvSpPr>
        <p:spPr>
          <a:xfrm>
            <a:off x="764381" y="4500869"/>
            <a:ext cx="228600" cy="228600"/>
          </a:xfrm>
          <a:prstGeom prst="ellipse">
            <a:avLst/>
          </a:prstGeom>
          <a:solidFill>
            <a:srgbClr val="8B5CF6"/>
          </a:solidFill>
          <a:ln/>
        </p:spPr>
      </p:sp>
      <p:sp>
        <p:nvSpPr>
          <p:cNvPr id="20" name="Text 16"/>
          <p:cNvSpPr/>
          <p:nvPr/>
        </p:nvSpPr>
        <p:spPr>
          <a:xfrm>
            <a:off x="764381" y="4500869"/>
            <a:ext cx="228600" cy="228600"/>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121212"/>
                </a:solidFill>
              </a:rPr>
              <a:t>4</a:t>
            </a:r>
            <a:endParaRPr lang="en-US" sz="683" dirty="0"/>
          </a:p>
        </p:txBody>
      </p:sp>
      <p:sp>
        <p:nvSpPr>
          <p:cNvPr id="21" name="Text 17"/>
          <p:cNvSpPr/>
          <p:nvPr/>
        </p:nvSpPr>
        <p:spPr>
          <a:xfrm>
            <a:off x="764381" y="4815194"/>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Risk Assessment</a:t>
            </a:r>
            <a:endParaRPr lang="en-US" sz="885" dirty="0"/>
          </a:p>
        </p:txBody>
      </p:sp>
      <p:sp>
        <p:nvSpPr>
          <p:cNvPr id="22" name="Text 18"/>
          <p:cNvSpPr/>
          <p:nvPr/>
        </p:nvSpPr>
        <p:spPr>
          <a:xfrm>
            <a:off x="764381" y="5047366"/>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Identifying compliance gaps, security exposures, and operational risks that require immediate attention.</a:t>
            </a:r>
            <a:endParaRPr lang="en-US" sz="780" dirty="0"/>
          </a:p>
        </p:txBody>
      </p:sp>
      <p:sp>
        <p:nvSpPr>
          <p:cNvPr id="23" name="Text 19"/>
          <p:cNvSpPr/>
          <p:nvPr/>
        </p:nvSpPr>
        <p:spPr>
          <a:xfrm>
            <a:off x="7288327" y="3493601"/>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05</a:t>
            </a:r>
            <a:endParaRPr lang="en-US" sz="1543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Intelligent Classification</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Triage Engine</a:t>
            </a:r>
            <a:endParaRPr lang="en-US" sz="2436" dirty="0"/>
          </a:p>
        </p:txBody>
      </p:sp>
      <p:sp>
        <p:nvSpPr>
          <p:cNvPr id="6" name="Text 2"/>
          <p:cNvSpPr/>
          <p:nvPr/>
        </p:nvSpPr>
        <p:spPr>
          <a:xfrm>
            <a:off x="771525" y="1413374"/>
            <a:ext cx="36290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Retire</a:t>
            </a:r>
            <a:endParaRPr lang="en-US" sz="885" dirty="0"/>
          </a:p>
        </p:txBody>
      </p:sp>
      <p:sp>
        <p:nvSpPr>
          <p:cNvPr id="7" name="Text 3"/>
          <p:cNvSpPr/>
          <p:nvPr/>
        </p:nvSpPr>
        <p:spPr>
          <a:xfrm>
            <a:off x="771525" y="1645546"/>
            <a:ext cx="362902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Applications with minimal usage and low business value are decommissioned to reduce maintenance burden.</a:t>
            </a:r>
            <a:endParaRPr lang="en-US" sz="727" dirty="0"/>
          </a:p>
        </p:txBody>
      </p:sp>
      <p:sp>
        <p:nvSpPr>
          <p:cNvPr id="8" name="Text 4"/>
          <p:cNvSpPr/>
          <p:nvPr/>
        </p:nvSpPr>
        <p:spPr>
          <a:xfrm>
            <a:off x="4943475" y="1413374"/>
            <a:ext cx="36290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Retain</a:t>
            </a:r>
            <a:endParaRPr lang="en-US" sz="885" dirty="0"/>
          </a:p>
        </p:txBody>
      </p:sp>
      <p:sp>
        <p:nvSpPr>
          <p:cNvPr id="9" name="Text 5"/>
          <p:cNvSpPr/>
          <p:nvPr/>
        </p:nvSpPr>
        <p:spPr>
          <a:xfrm>
            <a:off x="4943475" y="1645546"/>
            <a:ext cx="362902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Stable, low-risk systems that don't justify modernisation investment remain as-is with monitoring.</a:t>
            </a:r>
            <a:endParaRPr lang="en-US" sz="727" dirty="0"/>
          </a:p>
        </p:txBody>
      </p:sp>
      <p:sp>
        <p:nvSpPr>
          <p:cNvPr id="10" name="Text 6"/>
          <p:cNvSpPr/>
          <p:nvPr/>
        </p:nvSpPr>
        <p:spPr>
          <a:xfrm>
            <a:off x="771525" y="2732931"/>
            <a:ext cx="36290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Rehost</a:t>
            </a:r>
            <a:endParaRPr lang="en-US" sz="885" dirty="0"/>
          </a:p>
        </p:txBody>
      </p:sp>
      <p:sp>
        <p:nvSpPr>
          <p:cNvPr id="11" name="Text 7"/>
          <p:cNvSpPr/>
          <p:nvPr/>
        </p:nvSpPr>
        <p:spPr>
          <a:xfrm>
            <a:off x="771525" y="2965103"/>
            <a:ext cx="362902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Lift-and-shift to cloud infrastructure without code changes, improving scalability and reducing costs.</a:t>
            </a:r>
            <a:endParaRPr lang="en-US" sz="727" dirty="0"/>
          </a:p>
        </p:txBody>
      </p:sp>
      <p:sp>
        <p:nvSpPr>
          <p:cNvPr id="12" name="Text 8"/>
          <p:cNvSpPr/>
          <p:nvPr/>
        </p:nvSpPr>
        <p:spPr>
          <a:xfrm>
            <a:off x="4943475" y="2732931"/>
            <a:ext cx="36290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Replatform</a:t>
            </a:r>
            <a:endParaRPr lang="en-US" sz="885" dirty="0"/>
          </a:p>
        </p:txBody>
      </p:sp>
      <p:sp>
        <p:nvSpPr>
          <p:cNvPr id="13" name="Text 9"/>
          <p:cNvSpPr/>
          <p:nvPr/>
        </p:nvSpPr>
        <p:spPr>
          <a:xfrm>
            <a:off x="4943475" y="2965103"/>
            <a:ext cx="362902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Minimal modifications to leverage cloud-native services whilst preserving core architecture.</a:t>
            </a:r>
            <a:endParaRPr lang="en-US" sz="727" dirty="0"/>
          </a:p>
        </p:txBody>
      </p:sp>
      <p:sp>
        <p:nvSpPr>
          <p:cNvPr id="14" name="Text 10"/>
          <p:cNvSpPr/>
          <p:nvPr/>
        </p:nvSpPr>
        <p:spPr>
          <a:xfrm>
            <a:off x="771525" y="4052515"/>
            <a:ext cx="36290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Refactor</a:t>
            </a:r>
            <a:endParaRPr lang="en-US" sz="885" dirty="0"/>
          </a:p>
        </p:txBody>
      </p:sp>
      <p:sp>
        <p:nvSpPr>
          <p:cNvPr id="15" name="Text 11"/>
          <p:cNvSpPr/>
          <p:nvPr/>
        </p:nvSpPr>
        <p:spPr>
          <a:xfrm>
            <a:off x="771525" y="4284687"/>
            <a:ext cx="362902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Restructure and optimise code to improve maintainability and performance without changing functionality.</a:t>
            </a:r>
            <a:endParaRPr lang="en-US" sz="727" dirty="0"/>
          </a:p>
        </p:txBody>
      </p:sp>
      <p:sp>
        <p:nvSpPr>
          <p:cNvPr id="16" name="Text 12"/>
          <p:cNvSpPr/>
          <p:nvPr/>
        </p:nvSpPr>
        <p:spPr>
          <a:xfrm>
            <a:off x="4943475" y="4052515"/>
            <a:ext cx="36290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Rearchitect</a:t>
            </a:r>
            <a:endParaRPr lang="en-US" sz="885" dirty="0"/>
          </a:p>
        </p:txBody>
      </p:sp>
      <p:sp>
        <p:nvSpPr>
          <p:cNvPr id="17" name="Text 13"/>
          <p:cNvSpPr/>
          <p:nvPr/>
        </p:nvSpPr>
        <p:spPr>
          <a:xfrm>
            <a:off x="4943475" y="4284687"/>
            <a:ext cx="362902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Complete redesign for high-value strategic assets, moving to modern architecture patterns.</a:t>
            </a:r>
            <a:endParaRPr lang="en-US" sz="727" dirty="0"/>
          </a:p>
        </p:txBody>
      </p:sp>
      <p:sp>
        <p:nvSpPr>
          <p:cNvPr id="18" name="Text 14"/>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06</a:t>
            </a:r>
            <a:endParaRPr lang="en-US" sz="1543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Assembly Line A</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Encapsulation</a:t>
            </a:r>
            <a:endParaRPr lang="en-US" sz="2436" dirty="0"/>
          </a:p>
        </p:txBody>
      </p:sp>
      <p:sp>
        <p:nvSpPr>
          <p:cNvPr id="6" name="Text 2"/>
          <p:cNvSpPr/>
          <p:nvPr/>
        </p:nvSpPr>
        <p:spPr>
          <a:xfrm>
            <a:off x="571500" y="1241924"/>
            <a:ext cx="642937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For stable legacy systems that work but can't be easily modified, we wrap them in modern APIs and sidecars, treating them as black boxes.</a:t>
            </a:r>
            <a:endParaRPr lang="en-US" sz="834" dirty="0"/>
          </a:p>
        </p:txBody>
      </p:sp>
      <p:sp>
        <p:nvSpPr>
          <p:cNvPr id="7" name="Text 3"/>
          <p:cNvSpPr/>
          <p:nvPr/>
        </p:nvSpPr>
        <p:spPr>
          <a:xfrm>
            <a:off x="7358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Anti-Corruption Layers</a:t>
            </a:r>
            <a:endParaRPr lang="en-US" sz="885" dirty="0"/>
          </a:p>
        </p:txBody>
      </p:sp>
      <p:sp>
        <p:nvSpPr>
          <p:cNvPr id="8" name="Text 4"/>
          <p:cNvSpPr/>
          <p:nvPr/>
        </p:nvSpPr>
        <p:spPr>
          <a:xfrm>
            <a:off x="735806" y="2811373"/>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We don't just bridge code; we protect the new world from the old world's schemas and data models.</a:t>
            </a:r>
            <a:endParaRPr lang="en-US" sz="780" dirty="0"/>
          </a:p>
        </p:txBody>
      </p:sp>
      <p:sp>
        <p:nvSpPr>
          <p:cNvPr id="9" name="Text 5"/>
          <p:cNvSpPr/>
          <p:nvPr/>
        </p:nvSpPr>
        <p:spPr>
          <a:xfrm>
            <a:off x="34790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API Gateway Pattern</a:t>
            </a:r>
            <a:endParaRPr lang="en-US" sz="885" dirty="0"/>
          </a:p>
        </p:txBody>
      </p:sp>
      <p:sp>
        <p:nvSpPr>
          <p:cNvPr id="10" name="Text 6"/>
          <p:cNvSpPr/>
          <p:nvPr/>
        </p:nvSpPr>
        <p:spPr>
          <a:xfrm>
            <a:off x="3479006" y="2811373"/>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Modern REST or GraphQL interfaces that abstract away the complexity of legacy protocols and data formats.</a:t>
            </a:r>
            <a:endParaRPr lang="en-US" sz="780" dirty="0"/>
          </a:p>
        </p:txBody>
      </p:sp>
      <p:sp>
        <p:nvSpPr>
          <p:cNvPr id="11" name="Text 7"/>
          <p:cNvSpPr/>
          <p:nvPr/>
        </p:nvSpPr>
        <p:spPr>
          <a:xfrm>
            <a:off x="62222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Sidecar Services</a:t>
            </a:r>
            <a:endParaRPr lang="en-US" sz="885" dirty="0"/>
          </a:p>
        </p:txBody>
      </p:sp>
      <p:sp>
        <p:nvSpPr>
          <p:cNvPr id="12" name="Text 8"/>
          <p:cNvSpPr/>
          <p:nvPr/>
        </p:nvSpPr>
        <p:spPr>
          <a:xfrm>
            <a:off x="6222206" y="2811373"/>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Companion services that add observability, security, and resilience without touching legacy code.</a:t>
            </a:r>
            <a:endParaRPr lang="en-US" sz="780" dirty="0"/>
          </a:p>
        </p:txBody>
      </p:sp>
      <p:sp>
        <p:nvSpPr>
          <p:cNvPr id="13" name="Text 9"/>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07</a:t>
            </a:r>
            <a:endParaRPr lang="en-US" sz="1543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Assembly Line B</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Refactor</a:t>
            </a:r>
            <a:endParaRPr lang="en-US" sz="2436" dirty="0"/>
          </a:p>
        </p:txBody>
      </p:sp>
      <p:sp>
        <p:nvSpPr>
          <p:cNvPr id="6" name="Text 2"/>
          <p:cNvSpPr/>
          <p:nvPr/>
        </p:nvSpPr>
        <p:spPr>
          <a:xfrm>
            <a:off x="764381" y="1784849"/>
            <a:ext cx="780811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Automated Code Translation</a:t>
            </a:r>
            <a:endParaRPr lang="en-US" sz="987" dirty="0"/>
          </a:p>
        </p:txBody>
      </p:sp>
      <p:sp>
        <p:nvSpPr>
          <p:cNvPr id="7" name="Text 3"/>
          <p:cNvSpPr/>
          <p:nvPr/>
        </p:nvSpPr>
        <p:spPr>
          <a:xfrm>
            <a:off x="764381" y="2065241"/>
            <a:ext cx="6429375"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AI-powered tools convert legacy languages to modern equivalents whilst preserving business logic and behaviour.</a:t>
            </a:r>
            <a:endParaRPr lang="en-US" sz="834" dirty="0"/>
          </a:p>
        </p:txBody>
      </p:sp>
      <p:sp>
        <p:nvSpPr>
          <p:cNvPr id="8" name="Text 4"/>
          <p:cNvSpPr/>
          <p:nvPr/>
        </p:nvSpPr>
        <p:spPr>
          <a:xfrm>
            <a:off x="764381" y="2848180"/>
            <a:ext cx="780811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Library Modernisation</a:t>
            </a:r>
            <a:endParaRPr lang="en-US" sz="987" dirty="0"/>
          </a:p>
        </p:txBody>
      </p:sp>
      <p:sp>
        <p:nvSpPr>
          <p:cNvPr id="9" name="Text 5"/>
          <p:cNvSpPr/>
          <p:nvPr/>
        </p:nvSpPr>
        <p:spPr>
          <a:xfrm>
            <a:off x="764381" y="3128572"/>
            <a:ext cx="6429375"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Systematic replacement of deprecated dependencies with supported alternatives, including automated testing.</a:t>
            </a:r>
            <a:endParaRPr lang="en-US" sz="834" dirty="0"/>
          </a:p>
        </p:txBody>
      </p:sp>
      <p:sp>
        <p:nvSpPr>
          <p:cNvPr id="10" name="Text 6"/>
          <p:cNvSpPr/>
          <p:nvPr/>
        </p:nvSpPr>
        <p:spPr>
          <a:xfrm>
            <a:off x="764381" y="3911510"/>
            <a:ext cx="780811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Strangler Fig Pattern</a:t>
            </a:r>
            <a:endParaRPr lang="en-US" sz="987" dirty="0"/>
          </a:p>
        </p:txBody>
      </p:sp>
      <p:sp>
        <p:nvSpPr>
          <p:cNvPr id="11" name="Text 7"/>
          <p:cNvSpPr/>
          <p:nvPr/>
        </p:nvSpPr>
        <p:spPr>
          <a:xfrm>
            <a:off x="764381" y="4191902"/>
            <a:ext cx="6429375"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Incremental migration that ensures zero-downtime cutovers by gradually replacing functionality.</a:t>
            </a:r>
            <a:endParaRPr lang="en-US" sz="834" dirty="0"/>
          </a:p>
        </p:txBody>
      </p:sp>
      <p:sp>
        <p:nvSpPr>
          <p:cNvPr id="12" name="Text 8"/>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08</a:t>
            </a:r>
            <a:endParaRPr lang="en-US" sz="1543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Assembly Line C</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Rebuild</a:t>
            </a:r>
            <a:endParaRPr lang="en-US" sz="2436" dirty="0"/>
          </a:p>
        </p:txBody>
      </p:sp>
      <p:sp>
        <p:nvSpPr>
          <p:cNvPr id="6" name="Text 2"/>
          <p:cNvSpPr/>
          <p:nvPr/>
        </p:nvSpPr>
        <p:spPr>
          <a:xfrm>
            <a:off x="571500" y="1241924"/>
            <a:ext cx="642937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For high-value strategic assets, we employ Domain-Driven Design to completely rearchitect applications with modern patterns.</a:t>
            </a:r>
            <a:endParaRPr lang="en-US" sz="834" dirty="0"/>
          </a:p>
        </p:txBody>
      </p:sp>
      <p:sp>
        <p:nvSpPr>
          <p:cNvPr id="7" name="Text 3"/>
          <p:cNvSpPr/>
          <p:nvPr/>
        </p:nvSpPr>
        <p:spPr>
          <a:xfrm>
            <a:off x="7358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Domain-Driven Design</a:t>
            </a:r>
            <a:endParaRPr lang="en-US" sz="885" dirty="0"/>
          </a:p>
        </p:txBody>
      </p:sp>
      <p:sp>
        <p:nvSpPr>
          <p:cNvPr id="8" name="Text 4"/>
          <p:cNvSpPr/>
          <p:nvPr/>
        </p:nvSpPr>
        <p:spPr>
          <a:xfrm>
            <a:off x="735806" y="2811373"/>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Modelling business domains explicitly to create maintainable, evolvable architectures aligned with business needs.</a:t>
            </a:r>
            <a:endParaRPr lang="en-US" sz="780" dirty="0"/>
          </a:p>
        </p:txBody>
      </p:sp>
      <p:sp>
        <p:nvSpPr>
          <p:cNvPr id="9" name="Text 5"/>
          <p:cNvSpPr/>
          <p:nvPr/>
        </p:nvSpPr>
        <p:spPr>
          <a:xfrm>
            <a:off x="34790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Event-Driven Architecture</a:t>
            </a:r>
            <a:endParaRPr lang="en-US" sz="885" dirty="0"/>
          </a:p>
        </p:txBody>
      </p:sp>
      <p:sp>
        <p:nvSpPr>
          <p:cNvPr id="10" name="Text 6"/>
          <p:cNvSpPr/>
          <p:nvPr/>
        </p:nvSpPr>
        <p:spPr>
          <a:xfrm>
            <a:off x="3479006" y="2811373"/>
            <a:ext cx="2350294"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Decoupled systems that communicate through events, enabling scalability and resilience.</a:t>
            </a:r>
            <a:endParaRPr lang="en-US" sz="780" dirty="0"/>
          </a:p>
        </p:txBody>
      </p:sp>
      <p:sp>
        <p:nvSpPr>
          <p:cNvPr id="11" name="Text 7"/>
          <p:cNvSpPr/>
          <p:nvPr/>
        </p:nvSpPr>
        <p:spPr>
          <a:xfrm>
            <a:off x="62222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Abstracting the Data Layer</a:t>
            </a:r>
            <a:endParaRPr lang="en-US" sz="885" dirty="0"/>
          </a:p>
        </p:txBody>
      </p:sp>
      <p:sp>
        <p:nvSpPr>
          <p:cNvPr id="12" name="Text 8"/>
          <p:cNvSpPr/>
          <p:nvPr/>
        </p:nvSpPr>
        <p:spPr>
          <a:xfrm>
            <a:off x="6222206" y="2811373"/>
            <a:ext cx="2350294"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Clean separation between business logic and data persistence, enabling technology flexibility.</a:t>
            </a:r>
            <a:endParaRPr lang="en-US" sz="780" dirty="0"/>
          </a:p>
        </p:txBody>
      </p:sp>
      <p:sp>
        <p:nvSpPr>
          <p:cNvPr id="13" name="Text 9"/>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09</a:t>
            </a:r>
            <a:endParaRPr lang="en-US" sz="1543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The QA Gate</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Quality Control</a:t>
            </a:r>
            <a:endParaRPr lang="en-US" sz="2436" dirty="0"/>
          </a:p>
        </p:txBody>
      </p:sp>
      <p:sp>
        <p:nvSpPr>
          <p:cNvPr id="6" name="Text 2"/>
          <p:cNvSpPr/>
          <p:nvPr/>
        </p:nvSpPr>
        <p:spPr>
          <a:xfrm>
            <a:off x="571500" y="1241924"/>
            <a:ext cx="642937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Every application passes through rigorous automated testing, security scanning, and compliance validation before deployment.</a:t>
            </a:r>
            <a:endParaRPr lang="en-US" sz="834" dirty="0"/>
          </a:p>
        </p:txBody>
      </p:sp>
      <p:sp>
        <p:nvSpPr>
          <p:cNvPr id="7" name="Text 3"/>
          <p:cNvSpPr/>
          <p:nvPr/>
        </p:nvSpPr>
        <p:spPr>
          <a:xfrm>
            <a:off x="7358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Automated Testing</a:t>
            </a:r>
            <a:endParaRPr lang="en-US" sz="885" dirty="0"/>
          </a:p>
        </p:txBody>
      </p:sp>
      <p:sp>
        <p:nvSpPr>
          <p:cNvPr id="8" name="Text 4"/>
          <p:cNvSpPr/>
          <p:nvPr/>
        </p:nvSpPr>
        <p:spPr>
          <a:xfrm>
            <a:off x="735806" y="2839948"/>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Unit tests for all business logic</a:t>
            </a:r>
            <a:endParaRPr lang="en-US" sz="780" dirty="0"/>
          </a:p>
        </p:txBody>
      </p:sp>
      <p:sp>
        <p:nvSpPr>
          <p:cNvPr id="9" name="Text 5"/>
          <p:cNvSpPr/>
          <p:nvPr/>
        </p:nvSpPr>
        <p:spPr>
          <a:xfrm>
            <a:off x="735806" y="3100694"/>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Integration tests for APIs</a:t>
            </a:r>
            <a:endParaRPr lang="en-US" sz="780" dirty="0"/>
          </a:p>
        </p:txBody>
      </p:sp>
      <p:sp>
        <p:nvSpPr>
          <p:cNvPr id="10" name="Text 6"/>
          <p:cNvSpPr/>
          <p:nvPr/>
        </p:nvSpPr>
        <p:spPr>
          <a:xfrm>
            <a:off x="735806" y="3361441"/>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End-to-end user flows</a:t>
            </a:r>
            <a:endParaRPr lang="en-US" sz="780" dirty="0"/>
          </a:p>
        </p:txBody>
      </p:sp>
      <p:sp>
        <p:nvSpPr>
          <p:cNvPr id="11" name="Text 7"/>
          <p:cNvSpPr/>
          <p:nvPr/>
        </p:nvSpPr>
        <p:spPr>
          <a:xfrm>
            <a:off x="34790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Security Scanning</a:t>
            </a:r>
            <a:endParaRPr lang="en-US" sz="885" dirty="0"/>
          </a:p>
        </p:txBody>
      </p:sp>
      <p:sp>
        <p:nvSpPr>
          <p:cNvPr id="12" name="Text 8"/>
          <p:cNvSpPr/>
          <p:nvPr/>
        </p:nvSpPr>
        <p:spPr>
          <a:xfrm>
            <a:off x="3479006" y="2839948"/>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Static code analysis</a:t>
            </a:r>
            <a:endParaRPr lang="en-US" sz="780" dirty="0"/>
          </a:p>
        </p:txBody>
      </p:sp>
      <p:sp>
        <p:nvSpPr>
          <p:cNvPr id="13" name="Text 9"/>
          <p:cNvSpPr/>
          <p:nvPr/>
        </p:nvSpPr>
        <p:spPr>
          <a:xfrm>
            <a:off x="3479006" y="3100694"/>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Dependency vulnerability checks</a:t>
            </a:r>
            <a:endParaRPr lang="en-US" sz="780" dirty="0"/>
          </a:p>
        </p:txBody>
      </p:sp>
      <p:sp>
        <p:nvSpPr>
          <p:cNvPr id="14" name="Text 10"/>
          <p:cNvSpPr/>
          <p:nvPr/>
        </p:nvSpPr>
        <p:spPr>
          <a:xfrm>
            <a:off x="3479006" y="3361441"/>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Penetration testing</a:t>
            </a:r>
            <a:endParaRPr lang="en-US" sz="780" dirty="0"/>
          </a:p>
        </p:txBody>
      </p:sp>
      <p:sp>
        <p:nvSpPr>
          <p:cNvPr id="15" name="Text 11"/>
          <p:cNvSpPr/>
          <p:nvPr/>
        </p:nvSpPr>
        <p:spPr>
          <a:xfrm>
            <a:off x="6222206" y="2522051"/>
            <a:ext cx="2350294"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SRE Observability</a:t>
            </a:r>
            <a:endParaRPr lang="en-US" sz="885" dirty="0"/>
          </a:p>
        </p:txBody>
      </p:sp>
      <p:sp>
        <p:nvSpPr>
          <p:cNvPr id="16" name="Text 12"/>
          <p:cNvSpPr/>
          <p:nvPr/>
        </p:nvSpPr>
        <p:spPr>
          <a:xfrm>
            <a:off x="6222206" y="2839948"/>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Distributed tracing</a:t>
            </a:r>
            <a:endParaRPr lang="en-US" sz="780" dirty="0"/>
          </a:p>
        </p:txBody>
      </p:sp>
      <p:sp>
        <p:nvSpPr>
          <p:cNvPr id="17" name="Text 13"/>
          <p:cNvSpPr/>
          <p:nvPr/>
        </p:nvSpPr>
        <p:spPr>
          <a:xfrm>
            <a:off x="6222206" y="3100694"/>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Metrics and alerting</a:t>
            </a:r>
            <a:endParaRPr lang="en-US" sz="780" dirty="0"/>
          </a:p>
        </p:txBody>
      </p:sp>
      <p:sp>
        <p:nvSpPr>
          <p:cNvPr id="18" name="Text 14"/>
          <p:cNvSpPr/>
          <p:nvPr/>
        </p:nvSpPr>
        <p:spPr>
          <a:xfrm>
            <a:off x="6222206" y="3361441"/>
            <a:ext cx="2350294"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Log aggregation</a:t>
            </a:r>
            <a:endParaRPr lang="en-US" sz="780" dirty="0"/>
          </a:p>
        </p:txBody>
      </p:sp>
      <p:sp>
        <p:nvSpPr>
          <p:cNvPr id="19" name="Text 15"/>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10</a:t>
            </a:r>
            <a:endParaRPr lang="en-US" sz="154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Measurable Impact</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ROI of Industrialisation</a:t>
            </a:r>
            <a:endParaRPr lang="en-US" sz="2436" dirty="0"/>
          </a:p>
        </p:txBody>
      </p:sp>
      <p:sp>
        <p:nvSpPr>
          <p:cNvPr id="6" name="Text 2"/>
          <p:cNvSpPr/>
          <p:nvPr/>
        </p:nvSpPr>
        <p:spPr>
          <a:xfrm>
            <a:off x="571500" y="1241924"/>
            <a:ext cx="6429375"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The Modernisation Factory transforms technical debt from a growing liability into a managed, continuously improving asset.</a:t>
            </a:r>
            <a:endParaRPr lang="en-US" sz="834" dirty="0"/>
          </a:p>
        </p:txBody>
      </p:sp>
      <p:sp>
        <p:nvSpPr>
          <p:cNvPr id="7" name="Text 3"/>
          <p:cNvSpPr/>
          <p:nvPr/>
        </p:nvSpPr>
        <p:spPr>
          <a:xfrm>
            <a:off x="735806" y="2396337"/>
            <a:ext cx="235029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Velocity</a:t>
            </a:r>
            <a:endParaRPr lang="en-US" sz="987" dirty="0"/>
          </a:p>
        </p:txBody>
      </p:sp>
      <p:sp>
        <p:nvSpPr>
          <p:cNvPr id="8" name="Text 4"/>
          <p:cNvSpPr/>
          <p:nvPr/>
        </p:nvSpPr>
        <p:spPr>
          <a:xfrm>
            <a:off x="735806" y="2705305"/>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Faster feature delivery through standardised, maintainable architectures that reduce complexity and accelerate development cycles.</a:t>
            </a:r>
            <a:endParaRPr lang="en-US" sz="780" dirty="0"/>
          </a:p>
        </p:txBody>
      </p:sp>
      <p:sp>
        <p:nvSpPr>
          <p:cNvPr id="9" name="Text 5"/>
          <p:cNvSpPr/>
          <p:nvPr/>
        </p:nvSpPr>
        <p:spPr>
          <a:xfrm>
            <a:off x="3479006" y="2396337"/>
            <a:ext cx="235029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Cost Reduction</a:t>
            </a:r>
            <a:endParaRPr lang="en-US" sz="987" dirty="0"/>
          </a:p>
        </p:txBody>
      </p:sp>
      <p:sp>
        <p:nvSpPr>
          <p:cNvPr id="10" name="Text 6"/>
          <p:cNvSpPr/>
          <p:nvPr/>
        </p:nvSpPr>
        <p:spPr>
          <a:xfrm>
            <a:off x="3479006" y="2705305"/>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Lower maintenance costs through automation and cloud-native infrastructure, freeing resources for strategic initiatives.</a:t>
            </a:r>
            <a:endParaRPr lang="en-US" sz="780" dirty="0"/>
          </a:p>
        </p:txBody>
      </p:sp>
      <p:sp>
        <p:nvSpPr>
          <p:cNvPr id="11" name="Text 7"/>
          <p:cNvSpPr/>
          <p:nvPr/>
        </p:nvSpPr>
        <p:spPr>
          <a:xfrm>
            <a:off x="6222206" y="2396337"/>
            <a:ext cx="235029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Talent Retention</a:t>
            </a:r>
            <a:endParaRPr lang="en-US" sz="987" dirty="0"/>
          </a:p>
        </p:txBody>
      </p:sp>
      <p:sp>
        <p:nvSpPr>
          <p:cNvPr id="12" name="Text 8"/>
          <p:cNvSpPr/>
          <p:nvPr/>
        </p:nvSpPr>
        <p:spPr>
          <a:xfrm>
            <a:off x="6222206" y="2705305"/>
            <a:ext cx="235029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0E0E0"/>
                </a:solidFill>
              </a:rPr>
              <a:t>Engineers prefer working on modern tech stacks, reducing turnover and building organisational capability and expertise.</a:t>
            </a:r>
            <a:endParaRPr lang="en-US" sz="780" dirty="0"/>
          </a:p>
        </p:txBody>
      </p:sp>
      <p:sp>
        <p:nvSpPr>
          <p:cNvPr id="13" name="Text 9"/>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11</a:t>
            </a:r>
            <a:endParaRPr lang="en-US" sz="1543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Call to Action</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Phase 1: The Pilot</a:t>
            </a:r>
            <a:endParaRPr lang="en-US" sz="2436" dirty="0"/>
          </a:p>
        </p:txBody>
      </p:sp>
      <p:sp>
        <p:nvSpPr>
          <p:cNvPr id="6" name="Text 2"/>
          <p:cNvSpPr/>
          <p:nvPr/>
        </p:nvSpPr>
        <p:spPr>
          <a:xfrm>
            <a:off x="571500" y="1241924"/>
            <a:ext cx="642937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Begin with a 90-day pilot programme targeting three applications that represent different modernisation pathways. This proves the framework's effectiveness whilst building organisational capability.</a:t>
            </a:r>
            <a:endParaRPr lang="en-US" sz="834" dirty="0"/>
          </a:p>
        </p:txBody>
      </p:sp>
      <p:sp>
        <p:nvSpPr>
          <p:cNvPr id="7" name="Text 3"/>
          <p:cNvSpPr/>
          <p:nvPr/>
        </p:nvSpPr>
        <p:spPr>
          <a:xfrm>
            <a:off x="764381" y="1807676"/>
            <a:ext cx="7808119"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22D3EE"/>
                </a:solidFill>
              </a:rPr>
              <a:t>Week 1–2</a:t>
            </a:r>
            <a:endParaRPr lang="en-US" sz="634" dirty="0"/>
          </a:p>
        </p:txBody>
      </p:sp>
      <p:sp>
        <p:nvSpPr>
          <p:cNvPr id="8" name="Text 4"/>
          <p:cNvSpPr/>
          <p:nvPr/>
        </p:nvSpPr>
        <p:spPr>
          <a:xfrm>
            <a:off x="764381" y="1977340"/>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Application Selection</a:t>
            </a:r>
            <a:endParaRPr lang="en-US" sz="885" dirty="0"/>
          </a:p>
        </p:txBody>
      </p:sp>
      <p:sp>
        <p:nvSpPr>
          <p:cNvPr id="9" name="Text 5"/>
          <p:cNvSpPr/>
          <p:nvPr/>
        </p:nvSpPr>
        <p:spPr>
          <a:xfrm>
            <a:off x="764381" y="2209512"/>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Identify three candidate applications representing different complexity levels and business criticality.</a:t>
            </a:r>
            <a:endParaRPr lang="en-US" sz="780" dirty="0"/>
          </a:p>
        </p:txBody>
      </p:sp>
      <p:sp>
        <p:nvSpPr>
          <p:cNvPr id="10" name="Text 6"/>
          <p:cNvSpPr/>
          <p:nvPr/>
        </p:nvSpPr>
        <p:spPr>
          <a:xfrm>
            <a:off x="764381" y="2455971"/>
            <a:ext cx="7808119"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22D3EE"/>
                </a:solidFill>
              </a:rPr>
              <a:t>Week 3–4</a:t>
            </a:r>
            <a:endParaRPr lang="en-US" sz="634" dirty="0"/>
          </a:p>
        </p:txBody>
      </p:sp>
      <p:sp>
        <p:nvSpPr>
          <p:cNvPr id="11" name="Text 7"/>
          <p:cNvSpPr/>
          <p:nvPr/>
        </p:nvSpPr>
        <p:spPr>
          <a:xfrm>
            <a:off x="764381" y="2625635"/>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Discovery &amp; Triage</a:t>
            </a:r>
            <a:endParaRPr lang="en-US" sz="885" dirty="0"/>
          </a:p>
        </p:txBody>
      </p:sp>
      <p:sp>
        <p:nvSpPr>
          <p:cNvPr id="12" name="Text 8"/>
          <p:cNvSpPr/>
          <p:nvPr/>
        </p:nvSpPr>
        <p:spPr>
          <a:xfrm>
            <a:off x="764381" y="2857807"/>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Run automated discovery tools, map dependencies, and assign modernisation pathways.</a:t>
            </a:r>
            <a:endParaRPr lang="en-US" sz="780" dirty="0"/>
          </a:p>
        </p:txBody>
      </p:sp>
      <p:sp>
        <p:nvSpPr>
          <p:cNvPr id="13" name="Text 9"/>
          <p:cNvSpPr/>
          <p:nvPr/>
        </p:nvSpPr>
        <p:spPr>
          <a:xfrm>
            <a:off x="764381" y="3104266"/>
            <a:ext cx="7808119"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22D3EE"/>
                </a:solidFill>
              </a:rPr>
              <a:t>Week 5–10</a:t>
            </a:r>
            <a:endParaRPr lang="en-US" sz="634" dirty="0"/>
          </a:p>
        </p:txBody>
      </p:sp>
      <p:sp>
        <p:nvSpPr>
          <p:cNvPr id="14" name="Text 10"/>
          <p:cNvSpPr/>
          <p:nvPr/>
        </p:nvSpPr>
        <p:spPr>
          <a:xfrm>
            <a:off x="764381" y="3273930"/>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Modernisation Execution</a:t>
            </a:r>
            <a:endParaRPr lang="en-US" sz="885" dirty="0"/>
          </a:p>
        </p:txBody>
      </p:sp>
      <p:sp>
        <p:nvSpPr>
          <p:cNvPr id="15" name="Text 11"/>
          <p:cNvSpPr/>
          <p:nvPr/>
        </p:nvSpPr>
        <p:spPr>
          <a:xfrm>
            <a:off x="764381" y="3506102"/>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Execute the appropriate assembly line process for each application with continuous testing.</a:t>
            </a:r>
            <a:endParaRPr lang="en-US" sz="780" dirty="0"/>
          </a:p>
        </p:txBody>
      </p:sp>
      <p:sp>
        <p:nvSpPr>
          <p:cNvPr id="16" name="Text 12"/>
          <p:cNvSpPr/>
          <p:nvPr/>
        </p:nvSpPr>
        <p:spPr>
          <a:xfrm>
            <a:off x="764381" y="3752562"/>
            <a:ext cx="7808119"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22D3EE"/>
                </a:solidFill>
              </a:rPr>
              <a:t>Week 11–12</a:t>
            </a:r>
            <a:endParaRPr lang="en-US" sz="634" dirty="0"/>
          </a:p>
        </p:txBody>
      </p:sp>
      <p:sp>
        <p:nvSpPr>
          <p:cNvPr id="17" name="Text 13"/>
          <p:cNvSpPr/>
          <p:nvPr/>
        </p:nvSpPr>
        <p:spPr>
          <a:xfrm>
            <a:off x="764381" y="3922226"/>
            <a:ext cx="780811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Validation &amp; Rollout</a:t>
            </a:r>
            <a:endParaRPr lang="en-US" sz="885" dirty="0"/>
          </a:p>
        </p:txBody>
      </p:sp>
      <p:sp>
        <p:nvSpPr>
          <p:cNvPr id="18" name="Text 14"/>
          <p:cNvSpPr/>
          <p:nvPr/>
        </p:nvSpPr>
        <p:spPr>
          <a:xfrm>
            <a:off x="764381" y="4154398"/>
            <a:ext cx="7808119"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0E0E0"/>
                </a:solidFill>
              </a:rPr>
              <a:t>Final quality gates, production deployment, and measurement of success metrics.</a:t>
            </a:r>
            <a:endParaRPr lang="en-US" sz="780" dirty="0"/>
          </a:p>
        </p:txBody>
      </p:sp>
      <p:sp>
        <p:nvSpPr>
          <p:cNvPr id="19" name="Shape 15"/>
          <p:cNvSpPr/>
          <p:nvPr/>
        </p:nvSpPr>
        <p:spPr>
          <a:xfrm>
            <a:off x="571500" y="4586288"/>
            <a:ext cx="8001000" cy="557213"/>
          </a:xfrm>
          <a:prstGeom prst="rect">
            <a:avLst/>
          </a:prstGeom>
          <a:solidFill>
            <a:srgbClr val="000000">
              <a:alpha val="0"/>
            </a:srgbClr>
          </a:solidFill>
          <a:ln/>
        </p:spPr>
      </p:sp>
      <p:sp>
        <p:nvSpPr>
          <p:cNvPr id="20" name="Shape 16"/>
          <p:cNvSpPr/>
          <p:nvPr/>
        </p:nvSpPr>
        <p:spPr>
          <a:xfrm>
            <a:off x="571500" y="4586288"/>
            <a:ext cx="8001000" cy="7144"/>
          </a:xfrm>
          <a:prstGeom prst="rect">
            <a:avLst/>
          </a:prstGeom>
          <a:solidFill>
            <a:srgbClr val="22D3EE"/>
          </a:solidFill>
          <a:ln/>
        </p:spPr>
      </p:sp>
      <p:sp>
        <p:nvSpPr>
          <p:cNvPr id="21" name="Text 17"/>
          <p:cNvSpPr/>
          <p:nvPr/>
        </p:nvSpPr>
        <p:spPr>
          <a:xfrm>
            <a:off x="571500" y="4679156"/>
            <a:ext cx="1829526"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Start the Pilot Programme</a:t>
            </a:r>
            <a:endParaRPr lang="en-US" sz="987" dirty="0"/>
          </a:p>
        </p:txBody>
      </p:sp>
      <p:sp>
        <p:nvSpPr>
          <p:cNvPr id="22" name="Text 18"/>
          <p:cNvSpPr/>
          <p:nvPr/>
        </p:nvSpPr>
        <p:spPr>
          <a:xfrm>
            <a:off x="571500" y="4930973"/>
            <a:ext cx="2599879"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Transform your legacy estate into a strategic asset</a:t>
            </a:r>
            <a:endParaRPr lang="en-US" sz="834" dirty="0"/>
          </a:p>
        </p:txBody>
      </p:sp>
      <p:sp>
        <p:nvSpPr>
          <p:cNvPr id="23" name="Text 19"/>
          <p:cNvSpPr/>
          <p:nvPr/>
        </p:nvSpPr>
        <p:spPr>
          <a:xfrm>
            <a:off x="7288327" y="3429000"/>
            <a:ext cx="2284298" cy="2000250"/>
          </a:xfrm>
          <a:prstGeom prst="rect">
            <a:avLst/>
          </a:prstGeom>
          <a:noFill/>
          <a:ln/>
        </p:spPr>
        <p:txBody>
          <a:bodyPr wrap="none" lIns="0" tIns="0" rIns="0" bIns="0" rtlCol="0" anchor="t">
            <a:spAutoFit/>
          </a:bodyPr>
          <a:lstStyle/>
          <a:p>
            <a:pPr algn="l" indent="0" marL="0">
              <a:lnSpc>
                <a:spcPts val="15800"/>
              </a:lnSpc>
              <a:buNone/>
            </a:pPr>
            <a:r>
              <a:rPr lang="en-US" sz="15435" dirty="0">
                <a:solidFill>
                  <a:srgbClr val="22D3EE">
                    <a:alpha val="6000"/>
                  </a:srgbClr>
                </a:solidFill>
              </a:rPr>
              <a:t>12</a:t>
            </a:r>
            <a:endParaRPr lang="en-US" sz="1543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2026-01-01T12:51:45Z</dcterms:created>
  <dcterms:modified xsi:type="dcterms:W3CDTF">2026-01-01T12:51:45Z</dcterms:modified>
</cp:coreProperties>
</file>